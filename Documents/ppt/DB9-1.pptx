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7"/>
  </p:handoutMasterIdLst>
  <p:sldIdLst>
    <p:sldId id="258" r:id="rId3"/>
    <p:sldId id="260" r:id="rId5"/>
    <p:sldId id="262" r:id="rId6"/>
    <p:sldId id="287" r:id="rId7"/>
    <p:sldId id="305" r:id="rId8"/>
    <p:sldId id="263" r:id="rId9"/>
    <p:sldId id="303" r:id="rId10"/>
    <p:sldId id="265" r:id="rId11"/>
    <p:sldId id="306" r:id="rId12"/>
    <p:sldId id="270" r:id="rId13"/>
    <p:sldId id="307" r:id="rId14"/>
    <p:sldId id="266" r:id="rId15"/>
    <p:sldId id="308" r:id="rId16"/>
    <p:sldId id="268" r:id="rId17"/>
    <p:sldId id="269" r:id="rId18"/>
    <p:sldId id="309" r:id="rId19"/>
    <p:sldId id="291" r:id="rId20"/>
    <p:sldId id="292" r:id="rId21"/>
    <p:sldId id="299" r:id="rId22"/>
    <p:sldId id="272" r:id="rId23"/>
    <p:sldId id="273" r:id="rId24"/>
    <p:sldId id="278" r:id="rId25"/>
    <p:sldId id="30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60"/>
  </p:normalViewPr>
  <p:slideViewPr>
    <p:cSldViewPr snapToGrid="0">
      <p:cViewPr varScale="1">
        <p:scale>
          <a:sx n="77" d="100"/>
          <a:sy n="77" d="100"/>
        </p:scale>
        <p:origin x="1066" y="67"/>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image" Target="../media/image1.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fld>
            <a:endParaRPr lang="en-IN"/>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F2C119A-2030-4099-B7BC-BC6A380509A3}" type="datetime1">
              <a:rPr lang="en-IN" smtClean="0"/>
            </a:fld>
            <a:endParaRPr lang="en-IN"/>
          </a:p>
        </p:txBody>
      </p:sp>
      <p:sp>
        <p:nvSpPr>
          <p:cNvPr id="5" name="Footer Placeholder 4"/>
          <p:cNvSpPr>
            <a:spLocks noGrp="1"/>
          </p:cNvSpPr>
          <p:nvPr>
            <p:ph type="ftr" sz="quarter" idx="11"/>
          </p:nvPr>
        </p:nvSpPr>
        <p:spPr/>
        <p:txBody>
          <a:bodyPr/>
          <a:lstStyle/>
          <a:p>
            <a:r>
              <a:rPr lang="en-US"/>
              <a:t>Review No. 02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4073CF87-33B1-476E-9232-3CD697DB205D}" type="datetime1">
              <a:rPr lang="en-IN" smtClean="0"/>
            </a:fld>
            <a:endParaRPr lang="en-IN"/>
          </a:p>
        </p:txBody>
      </p:sp>
      <p:sp>
        <p:nvSpPr>
          <p:cNvPr id="5" name="Footer Placeholder 4"/>
          <p:cNvSpPr>
            <a:spLocks noGrp="1"/>
          </p:cNvSpPr>
          <p:nvPr>
            <p:ph type="ftr" sz="quarter" idx="11"/>
          </p:nvPr>
        </p:nvSpPr>
        <p:spPr/>
        <p:txBody>
          <a:bodyPr/>
          <a:lstStyle/>
          <a:p>
            <a:r>
              <a:rPr lang="en-US"/>
              <a:t>Review No. 02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48418BF-3411-4826-9BA3-0E96A4E1CB6B}" type="datetime1">
              <a:rPr lang="en-IN" smtClean="0"/>
            </a:fld>
            <a:endParaRPr lang="en-IN"/>
          </a:p>
        </p:txBody>
      </p:sp>
      <p:sp>
        <p:nvSpPr>
          <p:cNvPr id="5" name="Footer Placeholder 4"/>
          <p:cNvSpPr>
            <a:spLocks noGrp="1"/>
          </p:cNvSpPr>
          <p:nvPr>
            <p:ph type="ftr" sz="quarter" idx="11"/>
          </p:nvPr>
        </p:nvSpPr>
        <p:spPr/>
        <p:txBody>
          <a:bodyPr/>
          <a:lstStyle/>
          <a:p>
            <a:r>
              <a:rPr lang="en-US"/>
              <a:t>Review No. 02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AB7BD0BE-2096-4BFE-BDFA-4C60DA83F8D2}" type="datetime1">
              <a:rPr lang="en-IN" smtClean="0"/>
            </a:fld>
            <a:endParaRPr lang="en-IN"/>
          </a:p>
        </p:txBody>
      </p:sp>
      <p:sp>
        <p:nvSpPr>
          <p:cNvPr id="6" name="Footer Placeholder 5"/>
          <p:cNvSpPr>
            <a:spLocks noGrp="1"/>
          </p:cNvSpPr>
          <p:nvPr>
            <p:ph type="ftr" sz="quarter" idx="11"/>
          </p:nvPr>
        </p:nvSpPr>
        <p:spPr/>
        <p:txBody>
          <a:bodyPr/>
          <a:lstStyle/>
          <a:p>
            <a:r>
              <a:rPr lang="en-US"/>
              <a:t>Review No. 02        Batch No. CB1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BCEA0AA4-3FA4-4BD2-A327-67CE587183CC}" type="datetime1">
              <a:rPr lang="en-IN" smtClean="0"/>
            </a:fld>
            <a:endParaRPr lang="en-IN"/>
          </a:p>
        </p:txBody>
      </p:sp>
      <p:sp>
        <p:nvSpPr>
          <p:cNvPr id="8" name="Footer Placeholder 7"/>
          <p:cNvSpPr>
            <a:spLocks noGrp="1"/>
          </p:cNvSpPr>
          <p:nvPr>
            <p:ph type="ftr" sz="quarter" idx="11"/>
          </p:nvPr>
        </p:nvSpPr>
        <p:spPr/>
        <p:txBody>
          <a:bodyPr/>
          <a:lstStyle/>
          <a:p>
            <a:r>
              <a:rPr lang="en-US"/>
              <a:t>Review No. 02        Batch No. CB1           Department of CSE</a:t>
            </a:r>
            <a:endParaRPr lang="en-IN"/>
          </a:p>
        </p:txBody>
      </p:sp>
      <p:sp>
        <p:nvSpPr>
          <p:cNvPr id="9" name="Slide Number Placeholder 8"/>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4BC7149-436E-4B63-9AE5-D2D8F6827215}" type="datetime1">
              <a:rPr lang="en-IN" smtClean="0"/>
            </a:fld>
            <a:endParaRPr lang="en-IN"/>
          </a:p>
        </p:txBody>
      </p:sp>
      <p:sp>
        <p:nvSpPr>
          <p:cNvPr id="4" name="Footer Placeholder 3"/>
          <p:cNvSpPr>
            <a:spLocks noGrp="1"/>
          </p:cNvSpPr>
          <p:nvPr>
            <p:ph type="ftr" sz="quarter" idx="11"/>
          </p:nvPr>
        </p:nvSpPr>
        <p:spPr/>
        <p:txBody>
          <a:bodyPr/>
          <a:lstStyle/>
          <a:p>
            <a:r>
              <a:rPr lang="en-US"/>
              <a:t>Review No. 02        Batch No. CB1           Department of CSE</a:t>
            </a:r>
            <a:endParaRPr lang="en-IN"/>
          </a:p>
        </p:txBody>
      </p:sp>
      <p:sp>
        <p:nvSpPr>
          <p:cNvPr id="5" name="Slide Number Placeholder 4"/>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64D6FB-F532-43A3-80A5-54DC43703542}" type="datetime1">
              <a:rPr lang="en-IN" smtClean="0"/>
            </a:fld>
            <a:endParaRPr lang="en-IN"/>
          </a:p>
        </p:txBody>
      </p:sp>
      <p:sp>
        <p:nvSpPr>
          <p:cNvPr id="3" name="Footer Placeholder 2"/>
          <p:cNvSpPr>
            <a:spLocks noGrp="1"/>
          </p:cNvSpPr>
          <p:nvPr>
            <p:ph type="ftr" sz="quarter" idx="11"/>
          </p:nvPr>
        </p:nvSpPr>
        <p:spPr/>
        <p:txBody>
          <a:bodyPr/>
          <a:lstStyle/>
          <a:p>
            <a:r>
              <a:rPr lang="en-US"/>
              <a:t>Review No. 02        Batch No. CB1           Department of CSE</a:t>
            </a:r>
            <a:endParaRPr lang="en-IN"/>
          </a:p>
        </p:txBody>
      </p:sp>
      <p:sp>
        <p:nvSpPr>
          <p:cNvPr id="4" name="Slide Number Placeholder 3"/>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4F95793-E089-4EBA-9879-0A35E00EDD6F}" type="datetime1">
              <a:rPr lang="en-IN" smtClean="0"/>
            </a:fld>
            <a:endParaRPr lang="en-IN"/>
          </a:p>
        </p:txBody>
      </p:sp>
      <p:sp>
        <p:nvSpPr>
          <p:cNvPr id="6" name="Footer Placeholder 5"/>
          <p:cNvSpPr>
            <a:spLocks noGrp="1"/>
          </p:cNvSpPr>
          <p:nvPr>
            <p:ph type="ftr" sz="quarter" idx="11"/>
          </p:nvPr>
        </p:nvSpPr>
        <p:spPr/>
        <p:txBody>
          <a:bodyPr/>
          <a:lstStyle/>
          <a:p>
            <a:r>
              <a:rPr lang="en-US"/>
              <a:t>Review No. 02        Batch No. CB1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F4621D-49E0-4FD0-A9CA-71EB186FA9FF}" type="datetime1">
              <a:rPr lang="en-IN" smtClean="0"/>
            </a:fld>
            <a:endParaRPr lang="en-IN"/>
          </a:p>
        </p:txBody>
      </p:sp>
      <p:sp>
        <p:nvSpPr>
          <p:cNvPr id="6" name="Footer Placeholder 5"/>
          <p:cNvSpPr>
            <a:spLocks noGrp="1"/>
          </p:cNvSpPr>
          <p:nvPr>
            <p:ph type="ftr" sz="quarter" idx="11"/>
          </p:nvPr>
        </p:nvSpPr>
        <p:spPr/>
        <p:txBody>
          <a:bodyPr/>
          <a:lstStyle/>
          <a:p>
            <a:r>
              <a:rPr lang="en-US"/>
              <a:t>Review No. 02        Batch No. CB1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90A86B58-4BD1-41C3-BE2D-2F19F802543B}" type="datetime1">
              <a:rPr lang="en-IN" smtClean="0"/>
            </a:fld>
            <a:endParaRPr lang="en-IN"/>
          </a:p>
        </p:txBody>
      </p:sp>
      <p:sp>
        <p:nvSpPr>
          <p:cNvPr id="5" name="Footer Placeholder 4"/>
          <p:cNvSpPr>
            <a:spLocks noGrp="1"/>
          </p:cNvSpPr>
          <p:nvPr>
            <p:ph type="ftr" sz="quarter" idx="11"/>
          </p:nvPr>
        </p:nvSpPr>
        <p:spPr/>
        <p:txBody>
          <a:bodyPr/>
          <a:lstStyle/>
          <a:p>
            <a:r>
              <a:rPr lang="en-US"/>
              <a:t>Review No. 02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0B5C62AE-9086-490F-97C9-8016B7390020}" type="datetime1">
              <a:rPr lang="en-IN" smtClean="0"/>
            </a:fld>
            <a:endParaRPr lang="en-IN"/>
          </a:p>
        </p:txBody>
      </p:sp>
      <p:sp>
        <p:nvSpPr>
          <p:cNvPr id="5" name="Footer Placeholder 4"/>
          <p:cNvSpPr>
            <a:spLocks noGrp="1"/>
          </p:cNvSpPr>
          <p:nvPr>
            <p:ph type="ftr" sz="quarter" idx="11"/>
          </p:nvPr>
        </p:nvSpPr>
        <p:spPr/>
        <p:txBody>
          <a:bodyPr/>
          <a:lstStyle/>
          <a:p>
            <a:r>
              <a:rPr lang="en-US"/>
              <a:t>Review No. 02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DD608A-327C-460D-B137-2690D0731305}" type="datetime1">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No. 02        Batch No. CB1           Department of CSE</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jpe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jpe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p:nvPr/>
        </p:nvSpPr>
        <p:spPr>
          <a:xfrm>
            <a:off x="1754154" y="705471"/>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lvl="0" algn="ctr">
              <a:spcBef>
                <a:spcPct val="20000"/>
              </a:spcBef>
              <a:defRPr/>
            </a:pPr>
            <a:endParaRPr lang="en-US" b="1" dirty="0">
              <a:latin typeface="Times New Roman" panose="02020503050405090304" pitchFamily="18" charset="0"/>
              <a:cs typeface="Times New Roman" panose="02020503050405090304" pitchFamily="18" charset="0"/>
            </a:endParaRPr>
          </a:p>
          <a:p>
            <a:pPr lvl="0" algn="ctr">
              <a:spcBef>
                <a:spcPct val="20000"/>
              </a:spcBef>
              <a:defRPr/>
            </a:pPr>
            <a:r>
              <a:rPr lang="en-US" altLang="en-US" sz="2400" dirty="0">
                <a:solidFill>
                  <a:srgbClr val="FF0000"/>
                </a:solidFill>
                <a:latin typeface="Times New Roman" panose="02020503050405090304" pitchFamily="18" charset="0"/>
                <a:cs typeface="Times New Roman" panose="02020503050405090304" pitchFamily="18" charset="0"/>
              </a:rPr>
              <a:t>Grammar Correction Using Deep Learning BART Model</a:t>
            </a:r>
            <a:r>
              <a:rPr lang="en-US" sz="2400" dirty="0">
                <a:solidFill>
                  <a:srgbClr val="FF0000"/>
                </a:solidFill>
                <a:latin typeface="Times New Roman" panose="02020503050405090304" pitchFamily="18" charset="0"/>
                <a:cs typeface="Times New Roman" panose="02020503050405090304" pitchFamily="18" charset="0"/>
              </a:rPr>
              <a:t> </a:t>
            </a:r>
            <a:endParaRPr lang="en-US" sz="2400" dirty="0">
              <a:solidFill>
                <a:srgbClr val="FF0000"/>
              </a:solidFill>
              <a:latin typeface="Times New Roman" panose="02020503050405090304" pitchFamily="18" charset="0"/>
              <a:cs typeface="Times New Roman" panose="02020503050405090304" pitchFamily="18" charset="0"/>
            </a:endParaRPr>
          </a:p>
        </p:txBody>
      </p:sp>
      <p:sp>
        <p:nvSpPr>
          <p:cNvPr id="16" name="Subtitle 2"/>
          <p:cNvSpPr>
            <a:spLocks noGrp="1"/>
          </p:cNvSpPr>
          <p:nvPr>
            <p:ph type="subTitle" idx="1"/>
          </p:nvPr>
        </p:nvSpPr>
        <p:spPr>
          <a:xfrm>
            <a:off x="1639854" y="1966120"/>
            <a:ext cx="9144000" cy="1605338"/>
          </a:xfrm>
        </p:spPr>
        <p:txBody>
          <a:bodyPr>
            <a:normAutofit lnSpcReduction="10000"/>
          </a:bodyPr>
          <a:lstStyle/>
          <a:p>
            <a:pPr eaLnBrk="1" hangingPunct="1"/>
            <a:r>
              <a:rPr lang="en-US" altLang="en-US" sz="1600" dirty="0">
                <a:solidFill>
                  <a:schemeClr val="tx1"/>
                </a:solidFill>
                <a:latin typeface="Times New Roman" panose="02020503050405090304" pitchFamily="18" charset="0"/>
                <a:cs typeface="Times New Roman" panose="02020503050405090304" pitchFamily="18" charset="0"/>
              </a:rPr>
              <a:t>PRESENTED BY</a:t>
            </a:r>
            <a:endParaRPr lang="en-US" altLang="en-US" sz="1600" dirty="0">
              <a:solidFill>
                <a:schemeClr val="tx1"/>
              </a:solidFill>
              <a:latin typeface="Times New Roman" panose="02020503050405090304" pitchFamily="18" charset="0"/>
              <a:cs typeface="Times New Roman" panose="02020503050405090304" pitchFamily="18" charset="0"/>
            </a:endParaRPr>
          </a:p>
          <a:p>
            <a:pPr algn="l" eaLnBrk="1" hangingPunct="1"/>
            <a:r>
              <a:rPr lang="en-US" altLang="en-US" sz="1600" dirty="0">
                <a:solidFill>
                  <a:schemeClr val="tx1"/>
                </a:solidFill>
                <a:latin typeface="Times New Roman" panose="02020503050405090304" pitchFamily="18" charset="0"/>
                <a:cs typeface="Times New Roman" panose="02020503050405090304" pitchFamily="18" charset="0"/>
              </a:rPr>
              <a:t>			G.Sagarbabu                        </a:t>
            </a:r>
            <a:r>
              <a:rPr lang="en-US" altLang="en-US" sz="1600" dirty="0">
                <a:latin typeface="Times New Roman" panose="02020503050405090304" pitchFamily="18" charset="0"/>
                <a:cs typeface="Times New Roman" panose="02020503050405090304" pitchFamily="18" charset="0"/>
              </a:rPr>
              <a:t>(22471A05M2)</a:t>
            </a:r>
            <a:endParaRPr lang="en-US" altLang="en-US" sz="1600" dirty="0">
              <a:solidFill>
                <a:schemeClr val="tx1"/>
              </a:solidFill>
              <a:latin typeface="Times New Roman" panose="02020503050405090304" pitchFamily="18" charset="0"/>
              <a:cs typeface="Times New Roman" panose="02020503050405090304" pitchFamily="18" charset="0"/>
            </a:endParaRPr>
          </a:p>
          <a:p>
            <a:pPr algn="l"/>
            <a:r>
              <a:rPr lang="en-US" altLang="en-US" sz="1600" dirty="0">
                <a:solidFill>
                  <a:schemeClr val="tx1"/>
                </a:solidFill>
                <a:latin typeface="Times New Roman" panose="02020503050405090304" pitchFamily="18" charset="0"/>
                <a:cs typeface="Times New Roman" panose="02020503050405090304" pitchFamily="18" charset="0"/>
              </a:rPr>
              <a:t>	</a:t>
            </a:r>
            <a:r>
              <a:rPr lang="en-US" altLang="en-US" sz="1600" dirty="0">
                <a:latin typeface="Times New Roman" panose="02020503050405090304" pitchFamily="18" charset="0"/>
                <a:cs typeface="Times New Roman" panose="02020503050405090304" pitchFamily="18" charset="0"/>
              </a:rPr>
              <a:t>		N.Vinay</a:t>
            </a:r>
            <a:r>
              <a:rPr lang="en-US" altLang="en-US" sz="1600" dirty="0">
                <a:solidFill>
                  <a:schemeClr val="tx1"/>
                </a:solidFill>
                <a:latin typeface="Times New Roman" panose="02020503050405090304" pitchFamily="18" charset="0"/>
                <a:cs typeface="Times New Roman" panose="02020503050405090304" pitchFamily="18" charset="0"/>
              </a:rPr>
              <a:t>	                           (22471A05N5)</a:t>
            </a:r>
            <a:endParaRPr lang="en-US" altLang="en-US" sz="1600" dirty="0">
              <a:solidFill>
                <a:schemeClr val="tx1"/>
              </a:solidFill>
              <a:latin typeface="Times New Roman" panose="02020503050405090304" pitchFamily="18" charset="0"/>
              <a:cs typeface="Times New Roman" panose="02020503050405090304" pitchFamily="18" charset="0"/>
            </a:endParaRPr>
          </a:p>
          <a:p>
            <a:pPr algn="l"/>
            <a:r>
              <a:rPr lang="en-US" altLang="en-US" sz="1600" dirty="0">
                <a:solidFill>
                  <a:schemeClr val="tx1"/>
                </a:solidFill>
                <a:latin typeface="Times New Roman" panose="02020503050405090304" pitchFamily="18" charset="0"/>
                <a:cs typeface="Times New Roman" panose="02020503050405090304" pitchFamily="18" charset="0"/>
              </a:rPr>
              <a:t>			P.Venkatesh	         (23475A0514)</a:t>
            </a:r>
            <a:endParaRPr lang="en-US" altLang="en-US" sz="1600" dirty="0">
              <a:solidFill>
                <a:schemeClr val="tx1"/>
              </a:solidFill>
              <a:latin typeface="Times New Roman" panose="02020503050405090304" pitchFamily="18" charset="0"/>
              <a:cs typeface="Times New Roman" panose="02020503050405090304" pitchFamily="18" charset="0"/>
            </a:endParaRPr>
          </a:p>
          <a:p>
            <a:pPr algn="l"/>
            <a:r>
              <a:rPr lang="en-US" altLang="en-US" sz="1600" dirty="0">
                <a:solidFill>
                  <a:schemeClr val="tx1"/>
                </a:solidFill>
                <a:latin typeface="Times New Roman" panose="02020503050405090304" pitchFamily="18" charset="0"/>
                <a:cs typeface="Times New Roman" panose="02020503050405090304" pitchFamily="18" charset="0"/>
              </a:rPr>
              <a:t>                                            </a:t>
            </a:r>
            <a:endParaRPr lang="en-US" altLang="en-US" sz="1600" dirty="0">
              <a:solidFill>
                <a:schemeClr val="tx1"/>
              </a:solidFill>
              <a:latin typeface="Times New Roman" panose="02020503050405090304" pitchFamily="18" charset="0"/>
              <a:cs typeface="Times New Roman" panose="02020503050405090304" pitchFamily="18" charset="0"/>
            </a:endParaRPr>
          </a:p>
        </p:txBody>
      </p:sp>
      <p:sp>
        <p:nvSpPr>
          <p:cNvPr id="17" name="Subtitle 2"/>
          <p:cNvSpPr txBox="1"/>
          <p:nvPr/>
        </p:nvSpPr>
        <p:spPr bwMode="auto">
          <a:xfrm>
            <a:off x="2782854" y="3571458"/>
            <a:ext cx="6858000" cy="2288429"/>
          </a:xfrm>
          <a:prstGeom prst="rect">
            <a:avLst/>
          </a:prstGeom>
          <a:noFill/>
          <a:ln w="9525">
            <a:noFill/>
            <a:miter lim="800000"/>
          </a:ln>
        </p:spPr>
        <p:txBody>
          <a:bodyPr/>
          <a:lstStyle/>
          <a:p>
            <a:pPr algn="ctr" eaLnBrk="1" hangingPunct="1">
              <a:spcBef>
                <a:spcPct val="20000"/>
              </a:spcBef>
              <a:buFont typeface="Wingdings" panose="05000000000000000000" pitchFamily="2" charset="2"/>
              <a:buNone/>
            </a:pPr>
            <a:r>
              <a:rPr lang="en-US" altLang="en-US" dirty="0">
                <a:solidFill>
                  <a:srgbClr val="006600"/>
                </a:solidFill>
                <a:latin typeface="Times New Roman" panose="02020503050405090304" pitchFamily="18" charset="0"/>
                <a:cs typeface="Times New Roman" panose="02020503050405090304" pitchFamily="18" charset="0"/>
              </a:rPr>
              <a:t>Under the Esteemed Guidance of</a:t>
            </a:r>
            <a:endParaRPr lang="en-US" altLang="en-US" b="1" dirty="0">
              <a:solidFill>
                <a:srgbClr val="006600"/>
              </a:solidFill>
              <a:latin typeface="Times New Roman" panose="02020503050405090304" pitchFamily="18" charset="0"/>
              <a:cs typeface="Times New Roman" panose="02020503050405090304" pitchFamily="18" charset="0"/>
            </a:endParaRPr>
          </a:p>
          <a:p>
            <a:pPr algn="ctr" eaLnBrk="1" hangingPunct="1">
              <a:spcBef>
                <a:spcPct val="20000"/>
              </a:spcBef>
              <a:buFont typeface="Wingdings" panose="05000000000000000000" pitchFamily="2" charset="2"/>
              <a:buNone/>
            </a:pPr>
            <a:endParaRPr lang="en-US" altLang="en-US" sz="900" b="1" dirty="0">
              <a:solidFill>
                <a:schemeClr val="bg1"/>
              </a:solidFill>
              <a:latin typeface="Times New Roman" panose="02020503050405090304" pitchFamily="18" charset="0"/>
              <a:cs typeface="Times New Roman" panose="02020503050405090304" pitchFamily="18" charset="0"/>
            </a:endParaRPr>
          </a:p>
          <a:p>
            <a:pPr algn="ctr">
              <a:spcBef>
                <a:spcPct val="20000"/>
              </a:spcBef>
            </a:pPr>
            <a:r>
              <a:rPr lang="en-US" sz="1600" b="1" dirty="0">
                <a:latin typeface="Times New Roman" panose="02020503050405090304" pitchFamily="18" charset="0"/>
                <a:cs typeface="Times New Roman" panose="02020503050405090304" pitchFamily="18" charset="0"/>
              </a:rPr>
              <a:t>G.Saranya </a:t>
            </a:r>
            <a:r>
              <a:rPr lang="en-IN" sz="1600" b="1" i="0" baseline="-25000" dirty="0">
                <a:effectLst/>
                <a:latin typeface="Times New Roman" panose="02020503050405090304" pitchFamily="18" charset="0"/>
                <a:cs typeface="Times New Roman" panose="02020503050405090304" pitchFamily="18" charset="0"/>
              </a:rPr>
              <a:t>M. Tech</a:t>
            </a:r>
            <a:r>
              <a:rPr lang="en-US" altLang="en-IN" sz="1600" b="1" i="0" baseline="-25000" dirty="0">
                <a:effectLst/>
                <a:latin typeface="Times New Roman" panose="02020503050405090304" pitchFamily="18" charset="0"/>
                <a:cs typeface="Times New Roman" panose="02020503050405090304" pitchFamily="18" charset="0"/>
              </a:rPr>
              <a:t>.</a:t>
            </a:r>
            <a:endParaRPr lang="en-IN" sz="1600" dirty="0">
              <a:latin typeface="Times New Roman" panose="02020503050405090304" pitchFamily="18" charset="0"/>
              <a:cs typeface="Times New Roman" panose="02020503050405090304" pitchFamily="18" charset="0"/>
            </a:endParaRPr>
          </a:p>
          <a:p>
            <a:pPr algn="ctr" eaLnBrk="1" hangingPunct="1">
              <a:spcBef>
                <a:spcPct val="20000"/>
              </a:spcBef>
              <a:buFont typeface="Wingdings" panose="05000000000000000000" pitchFamily="2" charset="2"/>
              <a:buNone/>
            </a:pPr>
            <a:r>
              <a:rPr lang="en-IN" sz="1600" b="0" i="0" dirty="0" err="1">
                <a:effectLst/>
                <a:latin typeface="Times New Roman" panose="02020503050405090304" pitchFamily="18" charset="0"/>
                <a:cs typeface="Times New Roman" panose="02020503050405090304" pitchFamily="18" charset="0"/>
              </a:rPr>
              <a:t>A</a:t>
            </a:r>
            <a:r>
              <a:rPr lang="en-US" altLang="en-IN" sz="1600" b="0" i="0" dirty="0" err="1">
                <a:effectLst/>
                <a:latin typeface="Times New Roman" panose="02020503050405090304" pitchFamily="18" charset="0"/>
                <a:cs typeface="Times New Roman" panose="02020503050405090304" pitchFamily="18" charset="0"/>
              </a:rPr>
              <a:t>ssistant </a:t>
            </a:r>
            <a:r>
              <a:rPr lang="en-IN" sz="1600" b="0" i="0" dirty="0" err="1">
                <a:effectLst/>
                <a:latin typeface="Times New Roman" panose="02020503050405090304" pitchFamily="18" charset="0"/>
                <a:cs typeface="Times New Roman" panose="02020503050405090304" pitchFamily="18" charset="0"/>
              </a:rPr>
              <a:t>Professor</a:t>
            </a:r>
            <a:r>
              <a:rPr lang="en-US" altLang="en-US" sz="1600" dirty="0">
                <a:latin typeface="Times New Roman" panose="02020503050405090304" pitchFamily="18" charset="0"/>
                <a:cs typeface="Times New Roman" panose="02020503050405090304" pitchFamily="18" charset="0"/>
              </a:rPr>
              <a:t>,</a:t>
            </a:r>
            <a:endParaRPr lang="en-US" altLang="en-US" sz="1600" dirty="0">
              <a:latin typeface="Times New Roman" panose="02020503050405090304" pitchFamily="18" charset="0"/>
              <a:cs typeface="Times New Roman" panose="02020503050405090304" pitchFamily="18" charset="0"/>
            </a:endParaRPr>
          </a:p>
          <a:p>
            <a:pPr algn="ctr" eaLnBrk="1" hangingPunct="1">
              <a:lnSpc>
                <a:spcPct val="150000"/>
              </a:lnSpc>
              <a:spcBef>
                <a:spcPct val="20000"/>
              </a:spcBef>
              <a:buFont typeface="Wingdings" panose="05000000000000000000" pitchFamily="2" charset="2"/>
              <a:buNone/>
            </a:pPr>
            <a:r>
              <a:rPr lang="en-US" altLang="en-US" sz="1600" dirty="0">
                <a:latin typeface="Times New Roman" panose="02020503050405090304" pitchFamily="18" charset="0"/>
                <a:cs typeface="Times New Roman" panose="02020503050405090304" pitchFamily="18" charset="0"/>
              </a:rPr>
              <a:t>Department of Computer Science and Engineering,</a:t>
            </a:r>
            <a:endParaRPr lang="en-US" altLang="en-US" sz="1600" dirty="0">
              <a:latin typeface="Times New Roman" panose="02020503050405090304" pitchFamily="18" charset="0"/>
              <a:cs typeface="Times New Roman" panose="02020503050405090304" pitchFamily="18" charset="0"/>
            </a:endParaRPr>
          </a:p>
          <a:p>
            <a:pPr algn="ctr" eaLnBrk="1" hangingPunct="1">
              <a:lnSpc>
                <a:spcPct val="150000"/>
              </a:lnSpc>
              <a:spcBef>
                <a:spcPct val="20000"/>
              </a:spcBef>
              <a:buFont typeface="Wingdings" panose="05000000000000000000" pitchFamily="2" charset="2"/>
              <a:buNone/>
            </a:pPr>
            <a:r>
              <a:rPr lang="en-US" altLang="en-US" sz="1600" dirty="0" err="1">
                <a:latin typeface="Times New Roman" panose="02020503050405090304" pitchFamily="18" charset="0"/>
                <a:cs typeface="Times New Roman" panose="02020503050405090304" pitchFamily="18" charset="0"/>
              </a:rPr>
              <a:t>Narasaraopeta</a:t>
            </a:r>
            <a:r>
              <a:rPr lang="en-US" altLang="en-US" sz="1600" dirty="0">
                <a:latin typeface="Times New Roman" panose="02020503050405090304" pitchFamily="18" charset="0"/>
                <a:cs typeface="Times New Roman" panose="02020503050405090304" pitchFamily="18" charset="0"/>
              </a:rPr>
              <a:t> Engineering College (Autonomous),</a:t>
            </a:r>
            <a:endParaRPr lang="en-US" altLang="en-US" sz="1600" dirty="0">
              <a:latin typeface="Times New Roman" panose="02020503050405090304" pitchFamily="18" charset="0"/>
              <a:cs typeface="Times New Roman" panose="02020503050405090304" pitchFamily="18" charset="0"/>
            </a:endParaRPr>
          </a:p>
          <a:p>
            <a:pPr algn="ctr" eaLnBrk="1" hangingPunct="1">
              <a:lnSpc>
                <a:spcPct val="150000"/>
              </a:lnSpc>
              <a:spcBef>
                <a:spcPct val="20000"/>
              </a:spcBef>
              <a:buFont typeface="Wingdings" panose="05000000000000000000" pitchFamily="2" charset="2"/>
              <a:buNone/>
            </a:pPr>
            <a:r>
              <a:rPr lang="en-US" altLang="en-US" sz="1600" dirty="0">
                <a:latin typeface="Times New Roman" panose="02020503050405090304" pitchFamily="18" charset="0"/>
                <a:cs typeface="Times New Roman" panose="02020503050405090304" pitchFamily="18" charset="0"/>
              </a:rPr>
              <a:t>Narasaraopet - 522 601.</a:t>
            </a:r>
            <a:endParaRPr lang="en-US" altLang="en-US" sz="1600" dirty="0">
              <a:latin typeface="Times New Roman" panose="02020503050405090304" pitchFamily="18" charset="0"/>
              <a:cs typeface="Times New Roman" panose="02020503050405090304" pitchFamily="18" charset="0"/>
            </a:endParaRPr>
          </a:p>
        </p:txBody>
      </p:sp>
      <p:pic>
        <p:nvPicPr>
          <p:cNvPr id="9" name="Picture 8"/>
          <p:cNvPicPr>
            <a:picLocks noChangeAspect="1"/>
          </p:cNvPicPr>
          <p:nvPr/>
        </p:nvPicPr>
        <p:blipFill>
          <a:blip r:embed="rId1"/>
          <a:stretch>
            <a:fillRect/>
          </a:stretch>
        </p:blipFill>
        <p:spPr>
          <a:xfrm>
            <a:off x="0" y="90674"/>
            <a:ext cx="3762900" cy="5790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normAutofit/>
          </a:bodyPr>
          <a:lstStyle/>
          <a:p>
            <a:pPr algn="ctr"/>
            <a:r>
              <a:rPr lang="en-US" b="1" dirty="0">
                <a:latin typeface="Times New Roman" panose="02020503050405090304" pitchFamily="18" charset="0"/>
                <a:cs typeface="Times New Roman" panose="02020503050405090304" pitchFamily="18" charset="0"/>
              </a:rPr>
              <a:t>OUTLINE</a:t>
            </a:r>
            <a:endParaRPr lang="en-US" b="1" dirty="0">
              <a:latin typeface="Times New Roman" panose="02020503050405090304" pitchFamily="18" charset="0"/>
              <a:cs typeface="Times New Roman" panose="02020503050405090304" pitchFamily="18" charset="0"/>
            </a:endParaRPr>
          </a:p>
        </p:txBody>
      </p:sp>
      <p:sp>
        <p:nvSpPr>
          <p:cNvPr id="9" name="Content Placeholder 8"/>
          <p:cNvSpPr>
            <a:spLocks noGrp="1"/>
          </p:cNvSpPr>
          <p:nvPr>
            <p:ph idx="1"/>
          </p:nvPr>
        </p:nvSpPr>
        <p:spPr>
          <a:xfrm>
            <a:off x="1099457" y="1493134"/>
            <a:ext cx="10515600" cy="4683829"/>
          </a:xfrm>
        </p:spPr>
        <p:txBody>
          <a:bodyPr>
            <a:normAutofit fontScale="82500" lnSpcReduction="20000"/>
          </a:bodyPr>
          <a:lstStyle/>
          <a:p>
            <a:pPr>
              <a:buFont typeface="Wingdings" panose="05000000000000000000" charset="0"/>
              <a:buChar char=""/>
            </a:pPr>
            <a:r>
              <a:rPr lang="en-IN" dirty="0">
                <a:latin typeface="Times New Roman" panose="02020503050405090304" pitchFamily="18" charset="0"/>
                <a:cs typeface="Times New Roman" panose="02020503050405090304" pitchFamily="18" charset="0"/>
              </a:rPr>
              <a:t>Abstract</a:t>
            </a:r>
            <a:endParaRPr lang="en-IN"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IN" dirty="0">
                <a:latin typeface="Times New Roman" panose="02020503050405090304" pitchFamily="18" charset="0"/>
                <a:cs typeface="Times New Roman" panose="02020503050405090304" pitchFamily="18" charset="0"/>
              </a:rPr>
              <a:t>Introduction</a:t>
            </a:r>
            <a:endParaRPr lang="en-IN"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IN" dirty="0">
                <a:latin typeface="Times New Roman" panose="02020503050405090304" pitchFamily="18" charset="0"/>
                <a:cs typeface="Times New Roman" panose="02020503050405090304" pitchFamily="18" charset="0"/>
              </a:rPr>
              <a:t>Literature Survey</a:t>
            </a:r>
            <a:endParaRPr lang="en-IN"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IN" dirty="0">
                <a:latin typeface="Times New Roman" panose="02020503050405090304" pitchFamily="18" charset="0"/>
                <a:cs typeface="Times New Roman" panose="02020503050405090304" pitchFamily="18" charset="0"/>
              </a:rPr>
              <a:t>Research Gaps</a:t>
            </a:r>
            <a:endParaRPr lang="en-IN"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IN" dirty="0">
                <a:latin typeface="Times New Roman" panose="02020503050405090304" pitchFamily="18" charset="0"/>
                <a:cs typeface="Times New Roman" panose="02020503050405090304" pitchFamily="18" charset="0"/>
              </a:rPr>
              <a:t>Problem Statement</a:t>
            </a:r>
            <a:endParaRPr lang="en-IN"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IN" dirty="0">
                <a:latin typeface="Times New Roman" panose="02020503050405090304" pitchFamily="18" charset="0"/>
                <a:cs typeface="Times New Roman" panose="02020503050405090304" pitchFamily="18" charset="0"/>
              </a:rPr>
              <a:t>Objectives</a:t>
            </a:r>
            <a:endParaRPr lang="en-IN"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IN" dirty="0">
                <a:latin typeface="Times New Roman" panose="02020503050405090304" pitchFamily="18" charset="0"/>
                <a:cs typeface="Times New Roman" panose="02020503050405090304" pitchFamily="18" charset="0"/>
              </a:rPr>
              <a:t>Block Diagram</a:t>
            </a:r>
            <a:endParaRPr lang="en-IN"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US" sz="2800" dirty="0">
                <a:latin typeface="Times New Roman" panose="02020503050405090304" pitchFamily="18" charset="0"/>
                <a:cs typeface="Times New Roman" panose="02020503050405090304" pitchFamily="18" charset="0"/>
              </a:rPr>
              <a:t>Methodology </a:t>
            </a:r>
            <a:endParaRPr lang="en-US" sz="2800"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US" sz="2800" dirty="0">
                <a:latin typeface="Times New Roman" panose="02020503050405090304" pitchFamily="18" charset="0"/>
                <a:cs typeface="Times New Roman" panose="02020503050405090304" pitchFamily="18" charset="0"/>
              </a:rPr>
              <a:t>Implementation</a:t>
            </a:r>
            <a:endParaRPr lang="en-US" sz="2800"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US" sz="2800" dirty="0">
                <a:latin typeface="Times New Roman" panose="02020503050405090304" pitchFamily="18" charset="0"/>
                <a:cs typeface="Times New Roman" panose="02020503050405090304" pitchFamily="18" charset="0"/>
              </a:rPr>
              <a:t>Results and Analysis </a:t>
            </a:r>
            <a:endParaRPr lang="en-US" sz="2800"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US" sz="2800" dirty="0">
                <a:latin typeface="Times New Roman" panose="02020503050405090304" pitchFamily="18" charset="0"/>
                <a:cs typeface="Times New Roman" panose="02020503050405090304" pitchFamily="18" charset="0"/>
              </a:rPr>
              <a:t>Conclusion &amp; Future Scope</a:t>
            </a:r>
            <a:endParaRPr lang="en-US" sz="2800"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US" sz="2800" dirty="0">
                <a:latin typeface="Times New Roman" panose="02020503050405090304" pitchFamily="18" charset="0"/>
                <a:cs typeface="Times New Roman" panose="02020503050405090304" pitchFamily="18" charset="0"/>
              </a:rPr>
              <a:t>References</a:t>
            </a:r>
            <a:endParaRPr lang="en-US" sz="2800" dirty="0">
              <a:latin typeface="Times New Roman" panose="02020503050405090304" pitchFamily="18" charset="0"/>
              <a:cs typeface="Times New Roman" panose="02020503050405090304" pitchFamily="18" charset="0"/>
            </a:endParaRPr>
          </a:p>
          <a:p>
            <a:pPr marL="0" indent="0">
              <a:buFont typeface="+mj-lt"/>
              <a:buNone/>
            </a:pPr>
            <a:endParaRPr lang="en-IN" dirty="0">
              <a:latin typeface="Times New Roman" panose="02020503050405090304" pitchFamily="18" charset="0"/>
              <a:cs typeface="Times New Roman" panose="02020503050405090304" pitchFamily="18" charset="0"/>
            </a:endParaRPr>
          </a:p>
          <a:p>
            <a:pPr marL="0" indent="0">
              <a:buNone/>
            </a:pPr>
            <a:endParaRPr lang="en-IN" dirty="0">
              <a:latin typeface="Times New Roman" panose="02020503050405090304" pitchFamily="18" charset="0"/>
              <a:cs typeface="Times New Roman" panose="02020503050405090304" pitchFamily="18" charset="0"/>
            </a:endParaRPr>
          </a:p>
        </p:txBody>
      </p:sp>
      <p:sp>
        <p:nvSpPr>
          <p:cNvPr id="5" name="Date Placeholder 4"/>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
        <p:nvSpPr>
          <p:cNvPr id="6" name="Footer Placeholder 5"/>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503050405090304" pitchFamily="18" charset="0"/>
                <a:cs typeface="Times New Roman" panose="02020503050405090304" pitchFamily="18" charset="0"/>
              </a:rPr>
            </a:fld>
            <a:endParaRPr lang="en-US">
              <a:latin typeface="Times New Roman" panose="02020503050405090304" pitchFamily="18" charset="0"/>
              <a:cs typeface="Times New Roman" panose="0202050305040509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503050405090304" pitchFamily="18" charset="0"/>
                <a:cs typeface="Times New Roman" panose="02020503050405090304" pitchFamily="18" charset="0"/>
              </a:rPr>
              <a:t>ABSTRACT</a:t>
            </a:r>
            <a:endParaRPr lang="en-US" b="1" dirty="0">
              <a:latin typeface="Times New Roman" panose="02020503050405090304" pitchFamily="18" charset="0"/>
              <a:cs typeface="Times New Roman" panose="02020503050405090304" pitchFamily="18" charset="0"/>
            </a:endParaRPr>
          </a:p>
        </p:txBody>
      </p:sp>
      <p:sp>
        <p:nvSpPr>
          <p:cNvPr id="9" name="Content Placeholder 8"/>
          <p:cNvSpPr>
            <a:spLocks noGrp="1"/>
          </p:cNvSpPr>
          <p:nvPr>
            <p:ph idx="1"/>
          </p:nvPr>
        </p:nvSpPr>
        <p:spPr>
          <a:xfrm>
            <a:off x="367665" y="1225550"/>
            <a:ext cx="11425555" cy="4916805"/>
          </a:xfrm>
        </p:spPr>
        <p:txBody>
          <a:bodyPr>
            <a:noAutofit/>
          </a:bodyPr>
          <a:lstStyle/>
          <a:p>
            <a:pPr marL="0" indent="0" algn="just">
              <a:lnSpc>
                <a:spcPct val="100000"/>
              </a:lnSpc>
              <a:buNone/>
            </a:pPr>
            <a:r>
              <a:rPr lang="en-US" altLang="en-US" sz="1800" dirty="0">
                <a:latin typeface="Times New Roman" panose="02020503050405090304" pitchFamily="18" charset="0"/>
                <a:cs typeface="Times New Roman" panose="02020503050405090304" pitchFamily="18" charset="0"/>
              </a:rPr>
              <a:t>This work presents a transformer-based framework for Grammatical Error Correction (GEC) that integrates lightweight error detection with fluent and accurate correction. Unlike traditional single-stage models, the proposed system uses pre-classifiers such as DistilBERT, RoBERTa, and DeBERTa to identify potential grammatical errors, followed by a BART-based corrector enhanced with a supervised copy mechanism. This approach ensures that only erroneous segments are modified, minimizing overcorrection and preserving the natural fluency of the sentence. The novelty of this work lies in its two-stage architecture, which effectively balances accuracy and efficiency while remaining scalable for real-world applications. Experimental results on benchmark datasets such as Lang-8 and JFLEG demonstrate that the system outperforms baseline models across BLEU, F1, and MCC metrics. These outcomes confirm that the proposed model delivers high-quality corrections with strong computational efficiency, making it a promising solution for practical grammar assistance systems.</a:t>
            </a:r>
            <a:endParaRPr lang="en-US" altLang="en-US" sz="1800" dirty="0">
              <a:latin typeface="Times New Roman" panose="02020503050405090304" pitchFamily="18" charset="0"/>
              <a:cs typeface="Times New Roman" panose="02020503050405090304" pitchFamily="18" charset="0"/>
            </a:endParaRPr>
          </a:p>
          <a:p>
            <a:pPr marL="0" indent="0" algn="just">
              <a:lnSpc>
                <a:spcPct val="100000"/>
              </a:lnSpc>
              <a:buNone/>
            </a:pPr>
            <a:endParaRPr lang="en-US" altLang="en-US" sz="1800" dirty="0">
              <a:latin typeface="Times New Roman" panose="02020503050405090304" pitchFamily="18" charset="0"/>
              <a:cs typeface="Times New Roman" panose="02020503050405090304" pitchFamily="18" charset="0"/>
            </a:endParaRPr>
          </a:p>
          <a:p>
            <a:pPr marL="0" indent="0" algn="just">
              <a:lnSpc>
                <a:spcPct val="100000"/>
              </a:lnSpc>
              <a:buNone/>
            </a:pPr>
            <a:r>
              <a:rPr lang="en-US" altLang="en-US" sz="1800" b="1" dirty="0">
                <a:latin typeface="Times New Roman" panose="02020503050405090304" pitchFamily="18" charset="0"/>
                <a:cs typeface="Times New Roman" panose="02020503050405090304" pitchFamily="18" charset="0"/>
              </a:rPr>
              <a:t>Index Terms</a:t>
            </a:r>
            <a:r>
              <a:rPr lang="en-US" altLang="en-US" sz="1800" dirty="0">
                <a:latin typeface="Times New Roman" panose="02020503050405090304" pitchFamily="18" charset="0"/>
                <a:cs typeface="Times New Roman" panose="02020503050405090304" pitchFamily="18" charset="0"/>
              </a:rPr>
              <a:t>— Grammatical Error Correction, Deep Learning, Transformers, BART, Lang-8, BLEU, MCC, Natural Language Processing, Neural Networks, Educational AI.</a:t>
            </a:r>
            <a:endParaRPr lang="en-US" altLang="en-US" sz="1800" dirty="0">
              <a:latin typeface="Times New Roman" panose="02020503050405090304" pitchFamily="18" charset="0"/>
              <a:cs typeface="Times New Roman" panose="0202050305040509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503050405090304" pitchFamily="18" charset="0"/>
                <a:cs typeface="Times New Roman" panose="02020503050405090304" pitchFamily="18" charset="0"/>
              </a:rPr>
            </a:fld>
            <a:endParaRPr lang="en-US">
              <a:latin typeface="Times New Roman" panose="02020503050405090304" pitchFamily="18" charset="0"/>
              <a:cs typeface="Times New Roman" panose="02020503050405090304" pitchFamily="18" charset="0"/>
            </a:endParaRPr>
          </a:p>
        </p:txBody>
      </p:sp>
      <p:sp>
        <p:nvSpPr>
          <p:cNvPr id="3" name="Footer Placeholder 2"/>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10" name="Date Placeholder 9"/>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5DCBD69-296B-4D7C-AF62-9B588FC78772}" type="slidenum">
              <a:rPr lang="en-IN" smtClean="0"/>
            </a:fld>
            <a:endParaRPr lang="en-IN"/>
          </a:p>
        </p:txBody>
      </p:sp>
      <p:sp>
        <p:nvSpPr>
          <p:cNvPr id="5" name="Content Placeholder 8"/>
          <p:cNvSpPr txBox="1"/>
          <p:nvPr/>
        </p:nvSpPr>
        <p:spPr>
          <a:xfrm>
            <a:off x="838200" y="1493520"/>
            <a:ext cx="10515600" cy="445960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Written communication is an essential part of everyday life, especially in academic and professional settings.</a:t>
            </a: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Many users—particularly students and non-native English speakers—struggle to write grammatically correct sentences.</a:t>
            </a: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Even small grammatical mistakes can reduce clarity and affect the quality of written communication.</a:t>
            </a: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This creates a strong need for intelligent systems that can automatically detect and correct grammatical errors.</a:t>
            </a: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Earlier grammar correction systems were rule-based, making them difficult to update and ineffective for complex or informal language.</a:t>
            </a: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Later, statistical and translation-based models improved performance but often made unnecessary changes and produced unnatural corrections.</a:t>
            </a: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sym typeface="+mn-ea"/>
              </a:rPr>
              <a:t>To overcome these issues, the proposed work introduces a deep learning–based Grammatical Error Correction (GEC) model.</a:t>
            </a: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sym typeface="+mn-ea"/>
              </a:rPr>
              <a:t>The system uses BART, a transformer-based sequence-to-sequence model, for fluent and accurate sentence correction.</a:t>
            </a: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endParaRPr lang="en-US" altLang="en-US" sz="1800" dirty="0">
              <a:latin typeface="Times New Roman" panose="02020503050405090304" pitchFamily="18" charset="0"/>
              <a:cs typeface="Times New Roman" panose="02020503050405090304" pitchFamily="18" charset="0"/>
            </a:endParaRPr>
          </a:p>
        </p:txBody>
      </p:sp>
      <p:sp>
        <p:nvSpPr>
          <p:cNvPr id="6" name="Title 7"/>
          <p:cNvSpPr txBox="1"/>
          <p:nvPr/>
        </p:nvSpPr>
        <p:spPr>
          <a:xfrm>
            <a:off x="1180618" y="579027"/>
            <a:ext cx="10173182" cy="91410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503050405090304" pitchFamily="18" charset="0"/>
                <a:cs typeface="Times New Roman" panose="02020503050405090304" pitchFamily="18" charset="0"/>
              </a:rPr>
              <a:t>INTRODUCTION</a:t>
            </a:r>
            <a:endParaRPr lang="en-US" b="1" dirty="0">
              <a:latin typeface="Times New Roman" panose="02020503050405090304" pitchFamily="18" charset="0"/>
              <a:cs typeface="Times New Roman" panose="02020503050405090304" pitchFamily="18" charset="0"/>
            </a:endParaRPr>
          </a:p>
        </p:txBody>
      </p:sp>
      <p:pic>
        <p:nvPicPr>
          <p:cNvPr id="7" name="Picture 6"/>
          <p:cNvPicPr>
            <a:picLocks noChangeAspect="1"/>
          </p:cNvPicPr>
          <p:nvPr/>
        </p:nvPicPr>
        <p:blipFill>
          <a:blip r:embed="rId1"/>
          <a:stretch>
            <a:fillRect/>
          </a:stretch>
        </p:blipFill>
        <p:spPr>
          <a:xfrm>
            <a:off x="0" y="0"/>
            <a:ext cx="3762900" cy="579027"/>
          </a:xfrm>
          <a:prstGeom prst="rect">
            <a:avLst/>
          </a:prstGeom>
        </p:spPr>
      </p:pic>
      <p:sp>
        <p:nvSpPr>
          <p:cNvPr id="8" name="Footer Placeholder 7"/>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9" name="Date Placeholder 8"/>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pPr algn="ctr"/>
            <a:r>
              <a:rPr lang="en-US" b="1">
                <a:latin typeface="Times New Roman" panose="02020503050405090304" pitchFamily="18" charset="0"/>
                <a:cs typeface="Times New Roman" panose="02020503050405090304" pitchFamily="18" charset="0"/>
              </a:rPr>
              <a:t>INTRODUCTION</a:t>
            </a:r>
            <a:endParaRPr lang="en-US" b="1">
              <a:latin typeface="Times New Roman" panose="02020503050405090304" pitchFamily="18" charset="0"/>
              <a:cs typeface="Times New Roman" panose="02020503050405090304" pitchFamily="18" charset="0"/>
            </a:endParaRPr>
          </a:p>
        </p:txBody>
      </p:sp>
      <p:sp>
        <p:nvSpPr>
          <p:cNvPr id="6" name="Content Placeholder 5"/>
          <p:cNvSpPr>
            <a:spLocks noGrp="1"/>
          </p:cNvSpPr>
          <p:nvPr>
            <p:ph idx="1"/>
          </p:nvPr>
        </p:nvSpPr>
        <p:spPr/>
        <p:txBody>
          <a:bodyPr>
            <a:noAutofit/>
          </a:bodyPr>
          <a:p>
            <a:pPr algn="just">
              <a:lnSpc>
                <a:spcPct val="100000"/>
              </a:lnSpc>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sym typeface="+mn-ea"/>
              </a:rPr>
              <a:t>Before correction, the system detects error-prone tokens using lightweight transformer classifiers such as:</a:t>
            </a:r>
            <a:endParaRPr lang="en-US" altLang="en-US" sz="1800" dirty="0">
              <a:latin typeface="Times New Roman" panose="02020503050405090304" pitchFamily="18" charset="0"/>
              <a:cs typeface="Times New Roman" panose="02020503050405090304" pitchFamily="18" charset="0"/>
            </a:endParaRPr>
          </a:p>
          <a:p>
            <a:pPr lvl="1" algn="just">
              <a:lnSpc>
                <a:spcPct val="100000"/>
              </a:lnSpc>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sym typeface="+mn-ea"/>
              </a:rPr>
              <a:t>DistilBERT</a:t>
            </a:r>
            <a:endParaRPr lang="en-US" altLang="en-US" sz="1800" dirty="0">
              <a:latin typeface="Times New Roman" panose="02020503050405090304" pitchFamily="18" charset="0"/>
              <a:cs typeface="Times New Roman" panose="02020503050405090304" pitchFamily="18" charset="0"/>
            </a:endParaRPr>
          </a:p>
          <a:p>
            <a:pPr lvl="1" algn="just">
              <a:lnSpc>
                <a:spcPct val="100000"/>
              </a:lnSpc>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sym typeface="+mn-ea"/>
              </a:rPr>
              <a:t>RoBERTa</a:t>
            </a:r>
            <a:endParaRPr lang="en-US" altLang="en-US" sz="1800" dirty="0">
              <a:latin typeface="Times New Roman" panose="02020503050405090304" pitchFamily="18" charset="0"/>
              <a:cs typeface="Times New Roman" panose="02020503050405090304" pitchFamily="18" charset="0"/>
            </a:endParaRPr>
          </a:p>
          <a:p>
            <a:pPr lvl="1" algn="just">
              <a:lnSpc>
                <a:spcPct val="100000"/>
              </a:lnSpc>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sym typeface="+mn-ea"/>
              </a:rPr>
              <a:t>DeBERTa</a:t>
            </a:r>
            <a:endParaRPr lang="en-US" altLang="en-US" sz="1800" dirty="0">
              <a:latin typeface="Times New Roman" panose="02020503050405090304" pitchFamily="18" charset="0"/>
              <a:cs typeface="Times New Roman" panose="02020503050405090304" pitchFamily="18" charset="0"/>
              <a:sym typeface="+mn-ea"/>
            </a:endParaRPr>
          </a:p>
          <a:p>
            <a:pPr algn="just">
              <a:lnSpc>
                <a:spcPct val="100000"/>
              </a:lnSpc>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The BART corrector is enhanced with a supervised copy mechanism, ensuring that only incorrect segments of the sentence are modified.</a:t>
            </a:r>
            <a:endParaRPr lang="en-US" altLang="en-US" sz="1800">
              <a:latin typeface="Times New Roman" panose="02020503050405090304" pitchFamily="18" charset="0"/>
              <a:cs typeface="Times New Roman" panose="02020503050405090304" pitchFamily="18" charset="0"/>
            </a:endParaRPr>
          </a:p>
          <a:p>
            <a:pPr algn="just">
              <a:lnSpc>
                <a:spcPct val="100000"/>
              </a:lnSpc>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This prevents overcorrection and preserves the natural fluency of the sentence.</a:t>
            </a:r>
            <a:endParaRPr lang="en-US" altLang="en-US" sz="1800">
              <a:latin typeface="Times New Roman" panose="02020503050405090304" pitchFamily="18" charset="0"/>
              <a:cs typeface="Times New Roman" panose="02020503050405090304" pitchFamily="18" charset="0"/>
            </a:endParaRPr>
          </a:p>
          <a:p>
            <a:pPr algn="just">
              <a:lnSpc>
                <a:spcPct val="100000"/>
              </a:lnSpc>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The model is trained and evaluated on large-scale datasets such as:</a:t>
            </a:r>
            <a:endParaRPr lang="en-US" altLang="en-US" sz="1800">
              <a:latin typeface="Times New Roman" panose="02020503050405090304" pitchFamily="18" charset="0"/>
              <a:cs typeface="Times New Roman" panose="02020503050405090304" pitchFamily="18" charset="0"/>
            </a:endParaRPr>
          </a:p>
          <a:p>
            <a:pPr lvl="1" algn="just">
              <a:lnSpc>
                <a:spcPct val="100000"/>
              </a:lnSpc>
              <a:buFont typeface="Wingdings" panose="05000000000000000000" charset="0"/>
              <a:buChar char=""/>
            </a:pPr>
            <a:r>
              <a:rPr lang="en-US" altLang="en-US" sz="1540">
                <a:latin typeface="Times New Roman" panose="02020503050405090304" pitchFamily="18" charset="0"/>
                <a:cs typeface="Times New Roman" panose="02020503050405090304" pitchFamily="18" charset="0"/>
              </a:rPr>
              <a:t>Lang-8 Learner Corpus</a:t>
            </a:r>
            <a:endParaRPr lang="en-US" altLang="en-US" sz="1540">
              <a:latin typeface="Times New Roman" panose="02020503050405090304" pitchFamily="18" charset="0"/>
              <a:cs typeface="Times New Roman" panose="02020503050405090304" pitchFamily="18" charset="0"/>
            </a:endParaRPr>
          </a:p>
          <a:p>
            <a:pPr lvl="1" algn="just">
              <a:lnSpc>
                <a:spcPct val="100000"/>
              </a:lnSpc>
              <a:buFont typeface="Wingdings" panose="05000000000000000000" charset="0"/>
              <a:buChar char=""/>
            </a:pPr>
            <a:r>
              <a:rPr lang="en-US" altLang="en-US" sz="1540">
                <a:latin typeface="Times New Roman" panose="02020503050405090304" pitchFamily="18" charset="0"/>
                <a:cs typeface="Times New Roman" panose="02020503050405090304" pitchFamily="18" charset="0"/>
              </a:rPr>
              <a:t>JFLEG Corpus</a:t>
            </a:r>
            <a:endParaRPr lang="en-US" altLang="en-US" sz="1540">
              <a:latin typeface="Times New Roman" panose="02020503050405090304" pitchFamily="18" charset="0"/>
              <a:cs typeface="Times New Roman" panose="02020503050405090304" pitchFamily="18" charset="0"/>
            </a:endParaRPr>
          </a:p>
        </p:txBody>
      </p:sp>
      <p:sp>
        <p:nvSpPr>
          <p:cNvPr id="4" name="Slide Number Placeholder 3"/>
          <p:cNvSpPr>
            <a:spLocks noGrp="1"/>
          </p:cNvSpPr>
          <p:nvPr>
            <p:ph type="sldNum" sz="quarter" idx="12"/>
          </p:nvPr>
        </p:nvSpPr>
        <p:spPr/>
        <p:txBody>
          <a:bodyPr/>
          <a:p>
            <a:fld id="{65DCBD69-296B-4D7C-AF62-9B588FC78772}" type="slidenum">
              <a:rPr lang="en-IN" smtClean="0"/>
            </a:fld>
            <a:endParaRPr lang="en-IN"/>
          </a:p>
        </p:txBody>
      </p:sp>
      <p:sp>
        <p:nvSpPr>
          <p:cNvPr id="7" name="Footer Placeholder 6"/>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8" name="Date Placeholder 7"/>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IN" dirty="0">
              <a:latin typeface="Times New Roman" panose="02020503050405090304" pitchFamily="18" charset="0"/>
              <a:cs typeface="Times New Roman" panose="02020503050405090304" pitchFamily="18" charset="0"/>
            </a:endParaRPr>
          </a:p>
          <a:p>
            <a:endParaRPr lang="en-US" dirty="0">
              <a:latin typeface="Times New Roman" panose="02020503050405090304" pitchFamily="18" charset="0"/>
              <a:cs typeface="Times New Roman" panose="0202050305040509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503050405090304" pitchFamily="18" charset="0"/>
                <a:cs typeface="Times New Roman" panose="02020503050405090304" pitchFamily="18" charset="0"/>
              </a:rPr>
            </a:fld>
            <a:endParaRPr lang="en-US" dirty="0">
              <a:latin typeface="Times New Roman" panose="02020503050405090304" pitchFamily="18" charset="0"/>
              <a:cs typeface="Times New Roman" panose="02020503050405090304" pitchFamily="18" charset="0"/>
            </a:endParaRPr>
          </a:p>
        </p:txBody>
      </p:sp>
      <p:sp>
        <p:nvSpPr>
          <p:cNvPr id="10" name="Content Placeholder 8"/>
          <p:cNvSpPr txBox="1"/>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endParaRPr lang="en-US" dirty="0">
              <a:latin typeface="Times New Roman" panose="02020503050405090304" pitchFamily="18" charset="0"/>
              <a:cs typeface="Times New Roman" panose="02020503050405090304" pitchFamily="18" charset="0"/>
            </a:endParaRPr>
          </a:p>
        </p:txBody>
      </p:sp>
      <p:graphicFrame>
        <p:nvGraphicFramePr>
          <p:cNvPr id="3" name="Table 3"/>
          <p:cNvGraphicFramePr>
            <a:graphicFrameLocks noGrp="1"/>
          </p:cNvGraphicFramePr>
          <p:nvPr/>
        </p:nvGraphicFramePr>
        <p:xfrm>
          <a:off x="563880" y="681037"/>
          <a:ext cx="11088370" cy="5495925"/>
        </p:xfrm>
        <a:graphic>
          <a:graphicData uri="http://schemas.openxmlformats.org/drawingml/2006/table">
            <a:tbl>
              <a:tblPr firstRow="1" bandRow="1">
                <a:tableStyleId>{17292A2E-F333-43FB-9621-5CBBE7FDCDCB}</a:tableStyleId>
              </a:tblPr>
              <a:tblGrid>
                <a:gridCol w="619125"/>
                <a:gridCol w="2166870"/>
                <a:gridCol w="1453408"/>
                <a:gridCol w="1446245"/>
                <a:gridCol w="1978090"/>
                <a:gridCol w="1955800"/>
                <a:gridCol w="1468534"/>
              </a:tblGrid>
              <a:tr h="632974">
                <a:tc>
                  <a:txBody>
                    <a:bodyPr/>
                    <a:lstStyle/>
                    <a:p>
                      <a:pPr algn="ctr"/>
                      <a:r>
                        <a:rPr lang="en-US" sz="1400" dirty="0">
                          <a:solidFill>
                            <a:schemeClr val="tx1"/>
                          </a:solidFill>
                          <a:latin typeface="Times New Roman" panose="02020503050405090304" pitchFamily="18" charset="0"/>
                          <a:cs typeface="Times New Roman" panose="02020503050405090304" pitchFamily="18" charset="0"/>
                        </a:rPr>
                        <a:t>S.No</a:t>
                      </a:r>
                      <a:endParaRPr lang="en-US" sz="14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tx1"/>
                          </a:solidFill>
                          <a:latin typeface="Times New Roman" panose="02020503050405090304" pitchFamily="18" charset="0"/>
                          <a:cs typeface="Times New Roman" panose="02020503050405090304" pitchFamily="18" charset="0"/>
                        </a:rPr>
                        <a:t>Title</a:t>
                      </a:r>
                      <a:endParaRPr lang="en-US" sz="14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tx1"/>
                          </a:solidFill>
                          <a:latin typeface="Times New Roman" panose="02020503050405090304" pitchFamily="18" charset="0"/>
                          <a:cs typeface="Times New Roman" panose="02020503050405090304" pitchFamily="18" charset="0"/>
                        </a:rPr>
                        <a:t>Author</a:t>
                      </a:r>
                      <a:endParaRPr lang="en-US" sz="14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tx1"/>
                          </a:solidFill>
                          <a:latin typeface="Times New Roman" panose="02020503050405090304" pitchFamily="18" charset="0"/>
                          <a:cs typeface="Times New Roman" panose="02020503050405090304" pitchFamily="18" charset="0"/>
                        </a:rPr>
                        <a:t>Journal Name &amp; Year</a:t>
                      </a:r>
                      <a:endParaRPr lang="en-US" sz="14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tx1"/>
                          </a:solidFill>
                          <a:latin typeface="Times New Roman" panose="02020503050405090304" pitchFamily="18" charset="0"/>
                          <a:cs typeface="Times New Roman" panose="02020503050405090304" pitchFamily="18" charset="0"/>
                        </a:rPr>
                        <a:t>Methodology Adapted</a:t>
                      </a:r>
                      <a:endParaRPr lang="en-US" sz="14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tx1"/>
                          </a:solidFill>
                          <a:latin typeface="Times New Roman" panose="02020503050405090304" pitchFamily="18" charset="0"/>
                          <a:cs typeface="Times New Roman" panose="02020503050405090304" pitchFamily="18" charset="0"/>
                        </a:rPr>
                        <a:t>Key Findings </a:t>
                      </a:r>
                      <a:endParaRPr lang="en-US" sz="14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tx1"/>
                          </a:solidFill>
                          <a:latin typeface="Times New Roman" panose="02020503050405090304" pitchFamily="18" charset="0"/>
                          <a:cs typeface="Times New Roman" panose="02020503050405090304" pitchFamily="18" charset="0"/>
                        </a:rPr>
                        <a:t>Gaps</a:t>
                      </a:r>
                      <a:endParaRPr lang="en-US" sz="14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04149">
                <a:tc>
                  <a:txBody>
                    <a:bodyPr/>
                    <a:lstStyle/>
                    <a:p>
                      <a:pPr algn="just"/>
                      <a:r>
                        <a:rPr lang="en-US" sz="1400" dirty="0">
                          <a:latin typeface="Times New Roman" panose="02020503050405090304" pitchFamily="18" charset="0"/>
                          <a:cs typeface="Times New Roman" panose="02020503050405090304" pitchFamily="18" charset="0"/>
                        </a:rPr>
                        <a:t>1</a:t>
                      </a:r>
                      <a:endParaRPr lang="en-US" sz="1400" dirty="0">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defRPr/>
                      </a:pPr>
                      <a:r>
                        <a:rPr sz="1400">
                          <a:latin typeface="Times New Roman" panose="02020503050405090304" pitchFamily="18" charset="0"/>
                          <a:cs typeface="Times New Roman" panose="02020503050405090304" pitchFamily="18" charset="0"/>
                          <a:sym typeface="+mn-ea"/>
                        </a:rPr>
                        <a:t>Enhancing Grammatical Error Correction Systems with Explanations</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Fei et al.</a:t>
                      </a:r>
                      <a:endParaRPr sz="1400">
                        <a:latin typeface="Times New Roman" panose="02020503050405090304" pitchFamily="18" charset="0"/>
                        <a:cs typeface="Times New Roman" panose="02020503050405090304" pitchFamily="18" charset="0"/>
                      </a:endParaRPr>
                    </a:p>
                    <a:p>
                      <a:pPr algn="just"/>
                      <a:endParaRPr lang="en-US" sz="1400" dirty="0">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altLang="en-US" sz="1400" dirty="0">
                          <a:latin typeface="Times New Roman" panose="02020503050405090304" pitchFamily="18" charset="0"/>
                          <a:cs typeface="Times New Roman" panose="02020503050405090304" pitchFamily="18" charset="0"/>
                        </a:rPr>
                        <a:t>ACL, 2023</a:t>
                      </a:r>
                      <a:endParaRPr lang="en-US" altLang="en-US" sz="1400" dirty="0">
                        <a:latin typeface="Times New Roman" panose="02020503050405090304" pitchFamily="18" charset="0"/>
                        <a:cs typeface="Times New Roman" panose="02020503050405090304" pitchFamily="18" charset="0"/>
                      </a:endParaRPr>
                    </a:p>
                    <a:p>
                      <a:pPr algn="just"/>
                      <a:endParaRPr lang="en-US" altLang="en-US" sz="1400" dirty="0">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Tokenization, POS tagging, Error evidence extraction, Transformer with explanation-aware fine-tuning</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Introduces EXPECT dataset with error evidence and explanation; improves model interpretability</a:t>
                      </a:r>
                      <a:endParaRPr sz="1400">
                        <a:latin typeface="Times New Roman" panose="02020503050405090304" pitchFamily="18" charset="0"/>
                        <a:cs typeface="Times New Roman" panose="02020503050405090304" pitchFamily="18" charset="0"/>
                      </a:endParaRPr>
                    </a:p>
                    <a:p>
                      <a:pPr algn="just"/>
                      <a:endParaRPr lang="en-US" sz="1400" dirty="0">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Needs evaluation on multilingual scenarios</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80554">
                <a:tc>
                  <a:txBody>
                    <a:bodyPr/>
                    <a:lstStyle/>
                    <a:p>
                      <a:pPr algn="just"/>
                      <a:r>
                        <a:rPr lang="en-US" sz="1400" dirty="0">
                          <a:latin typeface="Times New Roman" panose="02020503050405090304" pitchFamily="18" charset="0"/>
                          <a:cs typeface="Times New Roman" panose="02020503050405090304" pitchFamily="18" charset="0"/>
                        </a:rPr>
                        <a:t>2</a:t>
                      </a:r>
                      <a:endParaRPr lang="en-US" sz="1400" dirty="0">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Type-Driven Multi-Turn Corrections for Grammatical Error Correction</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Lai et al.</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NAACL, 2022</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Error type labeling, Sentence augmentation, Multi-turn Seq2Seq model</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correction by error type; improves precision on complex sentences</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sz="1400">
                          <a:latin typeface="Times New Roman" panose="02020503050405090304" pitchFamily="18" charset="0"/>
                          <a:cs typeface="Times New Roman" panose="02020503050405090304" pitchFamily="18" charset="0"/>
                          <a:sym typeface="+mn-ea"/>
                        </a:rPr>
                        <a:t>Complex training pipeline</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78250">
                <a:tc>
                  <a:txBody>
                    <a:bodyPr/>
                    <a:lstStyle/>
                    <a:p>
                      <a:pPr algn="just"/>
                      <a:r>
                        <a:rPr lang="en-US" sz="1400" dirty="0">
                          <a:latin typeface="Times New Roman" panose="02020503050405090304" pitchFamily="18" charset="0"/>
                          <a:cs typeface="Times New Roman" panose="02020503050405090304" pitchFamily="18" charset="0"/>
                        </a:rPr>
                        <a:t>3</a:t>
                      </a:r>
                      <a:endParaRPr lang="en-US" sz="1400" dirty="0">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TemplateGEC: Improving GEC with Detection Templates</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Li et al.</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ACL, 2023</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POS tagging, Error region detection, Seq2Edit + Template-Aware Seq2Seq</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503050405090304" pitchFamily="18" charset="0"/>
                          <a:cs typeface="Times New Roman" panose="02020503050405090304" pitchFamily="18" charset="0"/>
                        </a:rPr>
                        <a:t>Achieved improved accuracy and classification rates in distributed environments.</a:t>
                      </a:r>
                      <a:endParaRPr lang="en-US" sz="1400" dirty="0">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400">
                          <a:latin typeface="Times New Roman" panose="02020503050405090304" pitchFamily="18" charset="0"/>
                          <a:cs typeface="Times New Roman" panose="02020503050405090304" pitchFamily="18" charset="0"/>
                          <a:sym typeface="+mn-ea"/>
                        </a:rPr>
                        <a:t>Less effective on informal text</a:t>
                      </a:r>
                      <a:endParaRPr lang="en-US" sz="14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Footer Placeholder 1"/>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4" name="Date Placeholder 3"/>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5DCBD69-296B-4D7C-AF62-9B588FC78772}" type="slidenum">
              <a:rPr lang="en-IN" smtClean="0"/>
            </a:fld>
            <a:endParaRPr lang="en-IN" dirty="0"/>
          </a:p>
        </p:txBody>
      </p:sp>
      <p:pic>
        <p:nvPicPr>
          <p:cNvPr id="5" name="Picture 4"/>
          <p:cNvPicPr>
            <a:picLocks noChangeAspect="1"/>
          </p:cNvPicPr>
          <p:nvPr/>
        </p:nvPicPr>
        <p:blipFill>
          <a:blip r:embed="rId1"/>
          <a:stretch>
            <a:fillRect/>
          </a:stretch>
        </p:blipFill>
        <p:spPr>
          <a:xfrm>
            <a:off x="0" y="0"/>
            <a:ext cx="3762900" cy="579027"/>
          </a:xfrm>
          <a:prstGeom prst="rect">
            <a:avLst/>
          </a:prstGeom>
        </p:spPr>
      </p:pic>
      <p:graphicFrame>
        <p:nvGraphicFramePr>
          <p:cNvPr id="8" name="Table 7"/>
          <p:cNvGraphicFramePr>
            <a:graphicFrameLocks noGrp="1"/>
          </p:cNvGraphicFramePr>
          <p:nvPr/>
        </p:nvGraphicFramePr>
        <p:xfrm>
          <a:off x="197963" y="623805"/>
          <a:ext cx="11858625" cy="4837430"/>
        </p:xfrm>
        <a:graphic>
          <a:graphicData uri="http://schemas.openxmlformats.org/drawingml/2006/table">
            <a:tbl>
              <a:tblPr firstRow="1" bandRow="1">
                <a:tableStyleId>{17292A2E-F333-43FB-9621-5CBBE7FDCDCB}</a:tableStyleId>
              </a:tblPr>
              <a:tblGrid>
                <a:gridCol w="631740"/>
                <a:gridCol w="2088060"/>
                <a:gridCol w="1740050"/>
                <a:gridCol w="1639382"/>
                <a:gridCol w="2104340"/>
                <a:gridCol w="1738963"/>
                <a:gridCol w="1916384"/>
              </a:tblGrid>
              <a:tr h="638794">
                <a:tc>
                  <a:txBody>
                    <a:bodyPr/>
                    <a:lstStyle/>
                    <a:p>
                      <a:pPr algn="ctr"/>
                      <a:r>
                        <a:rPr lang="en-US" sz="1600" dirty="0">
                          <a:solidFill>
                            <a:schemeClr val="tx1"/>
                          </a:solidFill>
                          <a:latin typeface="Times New Roman" panose="02020503050405090304" pitchFamily="18" charset="0"/>
                          <a:cs typeface="Times New Roman" panose="02020503050405090304" pitchFamily="18" charset="0"/>
                        </a:rPr>
                        <a:t>S.no</a:t>
                      </a:r>
                      <a:endParaRPr lang="en-US" sz="16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latin typeface="Times New Roman" panose="02020503050405090304" pitchFamily="18" charset="0"/>
                          <a:cs typeface="Times New Roman" panose="02020503050405090304" pitchFamily="18" charset="0"/>
                        </a:rPr>
                        <a:t>Title</a:t>
                      </a:r>
                      <a:endParaRPr lang="en-US" sz="16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latin typeface="Times New Roman" panose="02020503050405090304" pitchFamily="18" charset="0"/>
                          <a:cs typeface="Times New Roman" panose="02020503050405090304" pitchFamily="18" charset="0"/>
                        </a:rPr>
                        <a:t>Author</a:t>
                      </a:r>
                      <a:endParaRPr lang="en-US" sz="16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latin typeface="Times New Roman" panose="02020503050405090304" pitchFamily="18" charset="0"/>
                          <a:cs typeface="Times New Roman" panose="02020503050405090304" pitchFamily="18" charset="0"/>
                        </a:rPr>
                        <a:t>Journal Name &amp; Year</a:t>
                      </a:r>
                      <a:endParaRPr lang="en-US" sz="16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latin typeface="Times New Roman" panose="02020503050405090304" pitchFamily="18" charset="0"/>
                          <a:cs typeface="Times New Roman" panose="02020503050405090304" pitchFamily="18" charset="0"/>
                        </a:rPr>
                        <a:t>Methodology Adapted</a:t>
                      </a:r>
                      <a:endParaRPr lang="en-US" sz="16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latin typeface="Times New Roman" panose="02020503050405090304" pitchFamily="18" charset="0"/>
                          <a:cs typeface="Times New Roman" panose="02020503050405090304" pitchFamily="18" charset="0"/>
                        </a:rPr>
                        <a:t>Key Findings </a:t>
                      </a:r>
                      <a:endParaRPr lang="en-US" sz="16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latin typeface="Times New Roman" panose="02020503050405090304" pitchFamily="18" charset="0"/>
                          <a:cs typeface="Times New Roman" panose="02020503050405090304" pitchFamily="18" charset="0"/>
                        </a:rPr>
                        <a:t>Gaps</a:t>
                      </a:r>
                      <a:endParaRPr lang="en-US" sz="1600" dirty="0">
                        <a:solidFill>
                          <a:schemeClr val="tx1"/>
                        </a:solidFill>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87450">
                <a:tc>
                  <a:txBody>
                    <a:bodyPr/>
                    <a:lstStyle/>
                    <a:p>
                      <a:pPr algn="l"/>
                      <a:r>
                        <a:rPr lang="en-US" sz="1600" dirty="0">
                          <a:latin typeface="Times New Roman" panose="02020503050405090304" pitchFamily="18" charset="0"/>
                          <a:cs typeface="Times New Roman" panose="02020503050405090304" pitchFamily="18" charset="0"/>
                        </a:rPr>
                        <a:t>4</a:t>
                      </a:r>
                      <a:endParaRPr lang="en-US" sz="1600" dirty="0">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600">
                          <a:latin typeface="Times New Roman" panose="02020503050405090304" pitchFamily="18" charset="0"/>
                          <a:cs typeface="Times New Roman" panose="02020503050405090304" pitchFamily="18" charset="0"/>
                          <a:sym typeface="+mn-ea"/>
                        </a:rPr>
                        <a:t>FlaCGEC: A Chinese GEC Dataset with Fine-grained Annotations</a:t>
                      </a:r>
                      <a:endParaRPr lang="en-US" altLang="en-US" sz="16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600">
                          <a:latin typeface="Times New Roman" panose="02020503050405090304" pitchFamily="18" charset="0"/>
                          <a:cs typeface="Times New Roman" panose="02020503050405090304" pitchFamily="18" charset="0"/>
                          <a:sym typeface="+mn-ea"/>
                        </a:rPr>
                        <a:t>Du et al</a:t>
                      </a:r>
                      <a:endParaRPr lang="en-US" altLang="en-US" sz="16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600">
                          <a:latin typeface="Times New Roman" panose="02020503050405090304" pitchFamily="18" charset="0"/>
                          <a:cs typeface="Times New Roman" panose="02020503050405090304" pitchFamily="18" charset="0"/>
                          <a:sym typeface="+mn-ea"/>
                        </a:rPr>
                        <a:t>CIKM, 2023</a:t>
                      </a:r>
                      <a:endParaRPr lang="en-US" altLang="en-US" sz="16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600">
                          <a:latin typeface="Times New Roman" panose="02020503050405090304" pitchFamily="18" charset="0"/>
                          <a:cs typeface="Times New Roman" panose="02020503050405090304" pitchFamily="18" charset="0"/>
                          <a:sym typeface="+mn-ea"/>
                        </a:rPr>
                        <a:t>Linguistic error tagging, Token normalization, Transformer with error type classification</a:t>
                      </a:r>
                      <a:endParaRPr lang="en-US" altLang="en-US" sz="16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600">
                          <a:latin typeface="Times New Roman" panose="02020503050405090304" pitchFamily="18" charset="0"/>
                          <a:cs typeface="Times New Roman" panose="02020503050405090304" pitchFamily="18" charset="0"/>
                          <a:sym typeface="+mn-ea"/>
                        </a:rPr>
                        <a:t>First Chinese dataset with 78 linguistic error types; supports fine-grained correction</a:t>
                      </a:r>
                      <a:endParaRPr lang="en-US" altLang="en-US" sz="16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sz="1600">
                          <a:latin typeface="Times New Roman" panose="02020503050405090304" pitchFamily="18" charset="0"/>
                          <a:cs typeface="Times New Roman" panose="02020503050405090304" pitchFamily="18" charset="0"/>
                          <a:sym typeface="+mn-ea"/>
                        </a:rPr>
                        <a:t>Limited to Chinese text only</a:t>
                      </a:r>
                      <a:endParaRPr lang="en-US" altLang="en-US" sz="16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644140">
                <a:tc>
                  <a:txBody>
                    <a:bodyPr/>
                    <a:lstStyle/>
                    <a:p>
                      <a:pPr algn="just"/>
                      <a:r>
                        <a:rPr lang="en-US" sz="1600" dirty="0">
                          <a:latin typeface="Times New Roman" panose="02020503050405090304" pitchFamily="18" charset="0"/>
                          <a:cs typeface="Times New Roman" panose="02020503050405090304" pitchFamily="18" charset="0"/>
                        </a:rPr>
                        <a:t>5</a:t>
                      </a:r>
                      <a:endParaRPr lang="en-US" sz="1600" dirty="0">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600">
                          <a:latin typeface="Times New Roman" panose="02020503050405090304" pitchFamily="18" charset="0"/>
                          <a:cs typeface="Times New Roman" panose="02020503050405090304" pitchFamily="18" charset="0"/>
                          <a:sym typeface="+mn-ea"/>
                        </a:rPr>
                        <a:t>MuCGEC: Multi-Reference Chinese GEC Dataset</a:t>
                      </a:r>
                      <a:endParaRPr lang="en-US" altLang="en-US" sz="16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600">
                          <a:latin typeface="Times New Roman" panose="02020503050405090304" pitchFamily="18" charset="0"/>
                          <a:cs typeface="Times New Roman" panose="02020503050405090304" pitchFamily="18" charset="0"/>
                          <a:sym typeface="+mn-ea"/>
                        </a:rPr>
                        <a:t>Zhang et al.</a:t>
                      </a:r>
                      <a:endParaRPr lang="en-US" altLang="en-US" sz="16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sz="1600">
                          <a:latin typeface="Times New Roman" panose="02020503050405090304" pitchFamily="18" charset="0"/>
                          <a:cs typeface="Times New Roman" panose="02020503050405090304" pitchFamily="18" charset="0"/>
                          <a:sym typeface="+mn-ea"/>
                        </a:rPr>
                        <a:t>Manual annotation, Normalization, Seq2Seq, Seq2Edit</a:t>
                      </a:r>
                      <a:endParaRPr lang="en-US" altLang="en-US" sz="16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altLang="en-US" sz="1600" dirty="0">
                          <a:latin typeface="Times New Roman" panose="02020503050405090304" pitchFamily="18" charset="0"/>
                          <a:cs typeface="Times New Roman" panose="02020503050405090304" pitchFamily="18" charset="0"/>
                        </a:rPr>
                        <a:t>Seq2Edit + Template-Aware Seq2Seq</a:t>
                      </a:r>
                      <a:endParaRPr lang="en-US" altLang="en-US" sz="1600" dirty="0">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600">
                          <a:latin typeface="Times New Roman" panose="02020503050405090304" pitchFamily="18" charset="0"/>
                          <a:cs typeface="Times New Roman" panose="02020503050405090304" pitchFamily="18" charset="0"/>
                          <a:sym typeface="+mn-ea"/>
                        </a:rPr>
                        <a:t>Provides multi-reference corrections for 7k sentences; enhances evaluation diversity</a:t>
                      </a:r>
                      <a:endParaRPr lang="en-US" altLang="en-US" sz="1600" dirty="0">
                        <a:latin typeface="Times New Roman" panose="02020503050405090304" pitchFamily="18" charset="0"/>
                        <a:cs typeface="Times New Roman" panose="02020503050405090304" pitchFamily="18"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sz="1600">
                          <a:latin typeface="Times New Roman" panose="02020503050405090304" pitchFamily="18" charset="0"/>
                          <a:cs typeface="Times New Roman" panose="02020503050405090304" pitchFamily="18" charset="0"/>
                          <a:sym typeface="+mn-ea"/>
                        </a:rPr>
                        <a:t>Doesn’t support English</a:t>
                      </a:r>
                      <a:endParaRPr sz="1600">
                        <a:latin typeface="Times New Roman" panose="02020503050405090304" pitchFamily="18" charset="0"/>
                        <a:cs typeface="Times New Roman" panose="02020503050405090304" pitchFamily="18" charset="0"/>
                      </a:endParaRPr>
                    </a:p>
                    <a:p>
                      <a:pPr algn="just"/>
                      <a:endParaRPr lang="en-US" altLang="en-US" sz="1600" dirty="0">
                        <a:latin typeface="Times New Roman" panose="02020503050405090304" pitchFamily="18" charset="0"/>
                        <a:cs typeface="Times New Roman" panose="0202050305040509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Footer Placeholder 5"/>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7" name="Date Placeholder 6"/>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503050405090304" pitchFamily="18" charset="0"/>
                <a:cs typeface="Times New Roman" panose="02020503050405090304" pitchFamily="18" charset="0"/>
              </a:rPr>
              <a:t>RESEARCH GAPS</a:t>
            </a:r>
            <a:endParaRPr lang="en-US" b="1" dirty="0">
              <a:latin typeface="Times New Roman" panose="02020503050405090304" pitchFamily="18" charset="0"/>
              <a:cs typeface="Times New Roman" panose="02020503050405090304" pitchFamily="18" charset="0"/>
            </a:endParaRPr>
          </a:p>
        </p:txBody>
      </p:sp>
      <p:sp>
        <p:nvSpPr>
          <p:cNvPr id="9" name="Content Placeholder 8"/>
          <p:cNvSpPr>
            <a:spLocks noGrp="1"/>
          </p:cNvSpPr>
          <p:nvPr>
            <p:ph idx="1"/>
          </p:nvPr>
        </p:nvSpPr>
        <p:spPr>
          <a:xfrm>
            <a:off x="838199" y="1573699"/>
            <a:ext cx="10610461" cy="4351338"/>
          </a:xfrm>
        </p:spPr>
        <p:txBody>
          <a:bodyPr>
            <a:normAutofit fontScale="60000"/>
          </a:bodyPr>
          <a:lstStyle/>
          <a:p>
            <a:pPr algn="just">
              <a:buFont typeface="Wingdings" panose="05000000000000000000" charset="0"/>
              <a:buChar char=""/>
            </a:pPr>
            <a:endParaRPr sz="1800">
              <a:sym typeface="+mn-ea"/>
            </a:endParaRPr>
          </a:p>
          <a:p>
            <a:pPr marR="0" lvl="0" algn="just" defTabSz="914400" rtl="0" eaLnBrk="1" fontAlgn="auto" latinLnBrk="0" hangingPunct="1">
              <a:lnSpc>
                <a:spcPct val="100000"/>
              </a:lnSpc>
              <a:spcBef>
                <a:spcPts val="0"/>
              </a:spcBef>
              <a:spcAft>
                <a:spcPts val="0"/>
              </a:spcAft>
              <a:buClrTx/>
              <a:buSzTx/>
              <a:buFont typeface="Wingdings" panose="05000000000000000000" charset="0"/>
              <a:buChar char=""/>
              <a:defRPr/>
            </a:pPr>
            <a:r>
              <a:rPr lang="en-US" altLang="en-US">
                <a:sym typeface="+mn-ea"/>
              </a:rPr>
              <a:t>Most existing GEC systems use single-stage architectures, which often struggle to balance accuracy with computational efficiency.</a:t>
            </a:r>
            <a:endParaRPr lang="en-US" altLang="en-US">
              <a:sym typeface="+mn-ea"/>
            </a:endParaRPr>
          </a:p>
          <a:p>
            <a:pPr marR="0" lvl="0" algn="just" defTabSz="914400" rtl="0" eaLnBrk="1" fontAlgn="auto" latinLnBrk="0" hangingPunct="1">
              <a:lnSpc>
                <a:spcPct val="100000"/>
              </a:lnSpc>
              <a:spcBef>
                <a:spcPts val="0"/>
              </a:spcBef>
              <a:spcAft>
                <a:spcPts val="0"/>
              </a:spcAft>
              <a:buClrTx/>
              <a:buSzTx/>
              <a:buFont typeface="Wingdings" panose="05000000000000000000" charset="0"/>
              <a:buChar char=""/>
              <a:defRPr/>
            </a:pPr>
            <a:endParaRPr lang="en-US" altLang="en-US">
              <a:sym typeface="+mn-ea"/>
            </a:endParaRPr>
          </a:p>
          <a:p>
            <a:pPr marR="0" lvl="0" algn="just" defTabSz="914400" rtl="0" eaLnBrk="1" fontAlgn="auto" latinLnBrk="0" hangingPunct="1">
              <a:lnSpc>
                <a:spcPct val="100000"/>
              </a:lnSpc>
              <a:spcBef>
                <a:spcPts val="0"/>
              </a:spcBef>
              <a:spcAft>
                <a:spcPts val="0"/>
              </a:spcAft>
              <a:buClrTx/>
              <a:buSzTx/>
              <a:buFont typeface="Wingdings" panose="05000000000000000000" charset="0"/>
              <a:buChar char=""/>
              <a:defRPr/>
            </a:pPr>
            <a:r>
              <a:rPr lang="en-US" altLang="en-US">
                <a:sym typeface="+mn-ea"/>
              </a:rPr>
              <a:t>Many models tend to overcorrect sentences, altering even the correct parts and reducing fluency.</a:t>
            </a:r>
            <a:endParaRPr lang="en-US" altLang="en-US">
              <a:sym typeface="+mn-ea"/>
            </a:endParaRPr>
          </a:p>
          <a:p>
            <a:pPr marR="0" lvl="0" algn="just" defTabSz="914400" rtl="0" eaLnBrk="1" fontAlgn="auto" latinLnBrk="0" hangingPunct="1">
              <a:lnSpc>
                <a:spcPct val="100000"/>
              </a:lnSpc>
              <a:spcBef>
                <a:spcPts val="0"/>
              </a:spcBef>
              <a:spcAft>
                <a:spcPts val="0"/>
              </a:spcAft>
              <a:buClrTx/>
              <a:buSzTx/>
              <a:buFont typeface="Wingdings" panose="05000000000000000000" charset="0"/>
              <a:buChar char=""/>
              <a:defRPr/>
            </a:pPr>
            <a:endParaRPr lang="en-US" altLang="en-US">
              <a:sym typeface="+mn-ea"/>
            </a:endParaRPr>
          </a:p>
          <a:p>
            <a:pPr marR="0" lvl="0" algn="just" defTabSz="914400" rtl="0" eaLnBrk="1" fontAlgn="auto" latinLnBrk="0" hangingPunct="1">
              <a:lnSpc>
                <a:spcPct val="100000"/>
              </a:lnSpc>
              <a:spcBef>
                <a:spcPts val="0"/>
              </a:spcBef>
              <a:spcAft>
                <a:spcPts val="0"/>
              </a:spcAft>
              <a:buClrTx/>
              <a:buSzTx/>
              <a:buFont typeface="Wingdings" panose="05000000000000000000" charset="0"/>
              <a:buChar char=""/>
              <a:defRPr/>
            </a:pPr>
            <a:r>
              <a:rPr lang="en-US" altLang="en-US">
                <a:sym typeface="+mn-ea"/>
              </a:rPr>
              <a:t>Traditional rule-based and statistical approaches lack adaptability to informal, diverse, or complex sentence structures.</a:t>
            </a:r>
            <a:endParaRPr lang="en-US" altLang="en-US">
              <a:sym typeface="+mn-ea"/>
            </a:endParaRPr>
          </a:p>
          <a:p>
            <a:pPr marR="0" lvl="0" algn="just" defTabSz="914400" rtl="0" eaLnBrk="1" fontAlgn="auto" latinLnBrk="0" hangingPunct="1">
              <a:lnSpc>
                <a:spcPct val="100000"/>
              </a:lnSpc>
              <a:spcBef>
                <a:spcPts val="0"/>
              </a:spcBef>
              <a:spcAft>
                <a:spcPts val="0"/>
              </a:spcAft>
              <a:buClrTx/>
              <a:buSzTx/>
              <a:buFont typeface="Wingdings" panose="05000000000000000000" charset="0"/>
              <a:buChar char=""/>
              <a:defRPr/>
            </a:pPr>
            <a:endParaRPr lang="en-US" altLang="en-US">
              <a:sym typeface="+mn-ea"/>
            </a:endParaRPr>
          </a:p>
          <a:p>
            <a:pPr marR="0" lvl="0" algn="just" defTabSz="914400" rtl="0" eaLnBrk="1" fontAlgn="auto" latinLnBrk="0" hangingPunct="1">
              <a:lnSpc>
                <a:spcPct val="100000"/>
              </a:lnSpc>
              <a:spcBef>
                <a:spcPts val="0"/>
              </a:spcBef>
              <a:spcAft>
                <a:spcPts val="0"/>
              </a:spcAft>
              <a:buClrTx/>
              <a:buSzTx/>
              <a:buFont typeface="Wingdings" panose="05000000000000000000" charset="0"/>
              <a:buChar char=""/>
              <a:defRPr/>
            </a:pPr>
            <a:r>
              <a:rPr lang="en-US" altLang="en-US">
                <a:sym typeface="+mn-ea"/>
              </a:rPr>
              <a:t>Detection and correction are usually treated as separate tasks, creating inefficiencies and limiting real-time deployment.</a:t>
            </a:r>
            <a:endParaRPr lang="en-US" altLang="en-US">
              <a:sym typeface="+mn-ea"/>
            </a:endParaRPr>
          </a:p>
          <a:p>
            <a:pPr marR="0" lvl="0" algn="just" defTabSz="914400" rtl="0" eaLnBrk="1" fontAlgn="auto" latinLnBrk="0" hangingPunct="1">
              <a:lnSpc>
                <a:spcPct val="100000"/>
              </a:lnSpc>
              <a:spcBef>
                <a:spcPts val="0"/>
              </a:spcBef>
              <a:spcAft>
                <a:spcPts val="0"/>
              </a:spcAft>
              <a:buClrTx/>
              <a:buSzTx/>
              <a:buFont typeface="Wingdings" panose="05000000000000000000" charset="0"/>
              <a:buChar char=""/>
              <a:defRPr/>
            </a:pPr>
            <a:endParaRPr lang="en-US" altLang="en-US">
              <a:sym typeface="+mn-ea"/>
            </a:endParaRPr>
          </a:p>
          <a:p>
            <a:pPr marR="0" lvl="0" algn="just" defTabSz="914400" rtl="0" eaLnBrk="1" fontAlgn="auto" latinLnBrk="0" hangingPunct="1">
              <a:lnSpc>
                <a:spcPct val="100000"/>
              </a:lnSpc>
              <a:spcBef>
                <a:spcPts val="0"/>
              </a:spcBef>
              <a:spcAft>
                <a:spcPts val="0"/>
              </a:spcAft>
              <a:buClrTx/>
              <a:buSzTx/>
              <a:buFont typeface="Wingdings" panose="05000000000000000000" charset="0"/>
              <a:buChar char=""/>
              <a:defRPr/>
            </a:pPr>
            <a:r>
              <a:rPr lang="en-US" altLang="en-US">
                <a:sym typeface="+mn-ea"/>
              </a:rPr>
              <a:t>Existing transformer-based models do not consistently preserve correct tokens due to the absence of controlled copying mechanisms.</a:t>
            </a:r>
            <a:r>
              <a:rPr lang="en-US">
                <a:sym typeface="+mn-ea"/>
              </a:rPr>
              <a:t>   </a:t>
            </a:r>
            <a:endParaRPr lang="en-US" dirty="0">
              <a:latin typeface="Times New Roman" panose="02020503050405090304" pitchFamily="18" charset="0"/>
              <a:cs typeface="Times New Roman" panose="0202050305040509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503050405090304" pitchFamily="18" charset="0"/>
                <a:cs typeface="Times New Roman" panose="02020503050405090304" pitchFamily="18" charset="0"/>
              </a:rPr>
            </a:fld>
            <a:endParaRPr lang="en-US">
              <a:latin typeface="Times New Roman" panose="02020503050405090304" pitchFamily="18" charset="0"/>
              <a:cs typeface="Times New Roman" panose="02020503050405090304" pitchFamily="18" charset="0"/>
            </a:endParaRPr>
          </a:p>
        </p:txBody>
      </p:sp>
      <p:sp>
        <p:nvSpPr>
          <p:cNvPr id="2" name="Footer Placeholder 1"/>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3" name="Date Placeholder 2"/>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503050405090304" pitchFamily="18" charset="0"/>
                <a:cs typeface="Times New Roman" panose="02020503050405090304" pitchFamily="18" charset="0"/>
              </a:rPr>
              <a:t>RESEARCH GAPS</a:t>
            </a:r>
            <a:endParaRPr lang="en-US" b="1">
              <a:latin typeface="Times New Roman" panose="02020503050405090304" pitchFamily="18" charset="0"/>
              <a:cs typeface="Times New Roman" panose="02020503050405090304" pitchFamily="18" charset="0"/>
            </a:endParaRPr>
          </a:p>
        </p:txBody>
      </p:sp>
      <p:sp>
        <p:nvSpPr>
          <p:cNvPr id="3" name="Content Placeholder 2"/>
          <p:cNvSpPr>
            <a:spLocks noGrp="1"/>
          </p:cNvSpPr>
          <p:nvPr>
            <p:ph idx="1"/>
          </p:nvPr>
        </p:nvSpPr>
        <p:spPr/>
        <p:txBody>
          <a:bodyPr>
            <a:normAutofit fontScale="60000"/>
          </a:bodyPr>
          <a:p>
            <a:pPr>
              <a:buFont typeface="Wingdings" panose="05000000000000000000" charset="0"/>
              <a:buChar char=""/>
            </a:pPr>
            <a:r>
              <a:rPr lang="en-US" altLang="en-US"/>
              <a:t>Pre-classifiers used in earlier research are often limited and do not leverage multiple lightweight transformers for robust token-level error detection.</a:t>
            </a:r>
            <a:endParaRPr lang="en-US" altLang="en-US"/>
          </a:p>
          <a:p>
            <a:pPr>
              <a:buFont typeface="Wingdings" panose="05000000000000000000" charset="0"/>
              <a:buChar char=""/>
            </a:pPr>
            <a:endParaRPr lang="en-US" altLang="en-US"/>
          </a:p>
          <a:p>
            <a:pPr>
              <a:buFont typeface="Wingdings" panose="05000000000000000000" charset="0"/>
              <a:buChar char=""/>
            </a:pPr>
            <a:r>
              <a:rPr lang="en-US" altLang="en-US"/>
              <a:t>Several models show strong BLEU or fluency scores but perform poorly on token-level accuracy metrics such as MCC.</a:t>
            </a:r>
            <a:endParaRPr lang="en-US" altLang="en-US"/>
          </a:p>
          <a:p>
            <a:pPr>
              <a:buFont typeface="Wingdings" panose="05000000000000000000" charset="0"/>
              <a:buChar char=""/>
            </a:pPr>
            <a:endParaRPr lang="en-US" altLang="en-US"/>
          </a:p>
          <a:p>
            <a:pPr>
              <a:buFont typeface="Wingdings" panose="05000000000000000000" charset="0"/>
              <a:buChar char=""/>
            </a:pPr>
            <a:r>
              <a:rPr lang="en-US" altLang="en-US"/>
              <a:t>There is limited exploration of integrated pipelines that combine error detection and fluent correction in a unified system.</a:t>
            </a:r>
            <a:endParaRPr lang="en-US" altLang="en-US"/>
          </a:p>
          <a:p>
            <a:pPr>
              <a:buFont typeface="Wingdings" panose="05000000000000000000" charset="0"/>
              <a:buChar char=""/>
            </a:pPr>
            <a:endParaRPr lang="en-US" altLang="en-US"/>
          </a:p>
          <a:p>
            <a:pPr>
              <a:buFont typeface="Wingdings" panose="05000000000000000000" charset="0"/>
              <a:buChar char=""/>
            </a:pPr>
            <a:r>
              <a:rPr lang="en-US" altLang="en-US"/>
              <a:t>Many GEC systems lack scalability when applied to large datasets or real-time applications.</a:t>
            </a:r>
            <a:endParaRPr lang="en-US" altLang="en-US"/>
          </a:p>
          <a:p>
            <a:pPr>
              <a:buFont typeface="Wingdings" panose="05000000000000000000" charset="0"/>
              <a:buChar char=""/>
            </a:pPr>
            <a:endParaRPr lang="en-US" altLang="en-US"/>
          </a:p>
          <a:p>
            <a:pPr>
              <a:buFont typeface="Wingdings" panose="05000000000000000000" charset="0"/>
              <a:buChar char=""/>
            </a:pPr>
            <a:r>
              <a:rPr lang="en-US" altLang="en-US"/>
              <a:t>Few studies systematically evaluate both fluency and error detection accuracy using diverse benchmark datasets like Lang-8 and JFLEG.</a:t>
            </a:r>
            <a:endParaRPr lang="en-US" altLang="en-US"/>
          </a:p>
        </p:txBody>
      </p:sp>
      <p:sp>
        <p:nvSpPr>
          <p:cNvPr id="6" name="Slide Number Placeholder 5"/>
          <p:cNvSpPr>
            <a:spLocks noGrp="1"/>
          </p:cNvSpPr>
          <p:nvPr>
            <p:ph type="sldNum" sz="quarter" idx="12"/>
          </p:nvPr>
        </p:nvSpPr>
        <p:spPr/>
        <p:txBody>
          <a:bodyPr/>
          <a:p>
            <a:fld id="{65DCBD69-296B-4D7C-AF62-9B588FC78772}" type="slidenum">
              <a:rPr lang="en-IN" smtClean="0"/>
            </a:fld>
            <a:endParaRPr lang="en-IN"/>
          </a:p>
        </p:txBody>
      </p:sp>
      <p:sp>
        <p:nvSpPr>
          <p:cNvPr id="7" name="Footer Placeholder 6"/>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8" name="Date Placeholder 7"/>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503050405090304" pitchFamily="18" charset="0"/>
                <a:cs typeface="Times New Roman" panose="02020503050405090304" pitchFamily="18" charset="0"/>
              </a:rPr>
              <a:t>PROBLEM STATEMENT</a:t>
            </a:r>
            <a:endParaRPr lang="en-US" b="1" dirty="0">
              <a:latin typeface="Times New Roman" panose="02020503050405090304" pitchFamily="18" charset="0"/>
              <a:cs typeface="Times New Roman" panose="02020503050405090304" pitchFamily="18" charset="0"/>
            </a:endParaRPr>
          </a:p>
        </p:txBody>
      </p:sp>
      <p:sp>
        <p:nvSpPr>
          <p:cNvPr id="9" name="Content Placeholder 8"/>
          <p:cNvSpPr>
            <a:spLocks noGrp="1"/>
          </p:cNvSpPr>
          <p:nvPr>
            <p:ph idx="1"/>
          </p:nvPr>
        </p:nvSpPr>
        <p:spPr>
          <a:xfrm>
            <a:off x="838200" y="1492885"/>
            <a:ext cx="10515600" cy="4796155"/>
          </a:xfrm>
        </p:spPr>
        <p:txBody>
          <a:bodyPr>
            <a:normAutofit/>
          </a:bodyPr>
          <a:lstStyle/>
          <a:p>
            <a:pPr algn="just">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Many individuals, especially students and non-native English speakers, struggle to write grammatically correct sentences, leading to unclear communication.</a:t>
            </a: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Traditional rule-based grammar correction systems are rigid, difficult to maintain, and fail to handle complex or informal language.</a:t>
            </a: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Existing statistical and translation-based GEC models often make unnecessary edits, resulting in overcorrection and unnatural sentence outputs.</a:t>
            </a: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endParaRPr lang="en-US" altLang="en-US" sz="1800" dirty="0">
              <a:latin typeface="Times New Roman" panose="02020503050405090304" pitchFamily="18" charset="0"/>
              <a:cs typeface="Times New Roman" panose="02020503050405090304" pitchFamily="18" charset="0"/>
            </a:endParaRPr>
          </a:p>
          <a:p>
            <a:pPr algn="just">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Single-stage deep learning models lack an effective mechanism to distinguish between correct and incorrect tokens, reducing correction accuracy.</a:t>
            </a:r>
            <a:endParaRPr lang="en-US" altLang="en-US" sz="1800" dirty="0">
              <a:latin typeface="Times New Roman" panose="02020503050405090304" pitchFamily="18" charset="0"/>
              <a:cs typeface="Times New Roman" panose="0202050305040509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503050405090304" pitchFamily="18" charset="0"/>
                <a:cs typeface="Times New Roman" panose="02020503050405090304" pitchFamily="18" charset="0"/>
              </a:rPr>
            </a:fld>
            <a:endParaRPr lang="en-US">
              <a:latin typeface="Times New Roman" panose="02020503050405090304" pitchFamily="18" charset="0"/>
              <a:cs typeface="Times New Roman" panose="02020503050405090304" pitchFamily="18" charset="0"/>
            </a:endParaRPr>
          </a:p>
        </p:txBody>
      </p:sp>
      <p:sp>
        <p:nvSpPr>
          <p:cNvPr id="2" name="Footer Placeholder 1"/>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3" name="Date Placeholder 2"/>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a:latin typeface="Times New Roman" panose="02020503050405090304" pitchFamily="18" charset="0"/>
                <a:cs typeface="Times New Roman" panose="02020503050405090304" pitchFamily="18" charset="0"/>
                <a:sym typeface="+mn-ea"/>
              </a:rPr>
              <a:t>PROBLEM STATEMENT</a:t>
            </a:r>
            <a:endParaRPr lang="en-US"/>
          </a:p>
        </p:txBody>
      </p:sp>
      <p:sp>
        <p:nvSpPr>
          <p:cNvPr id="3" name="Content Placeholder 2"/>
          <p:cNvSpPr>
            <a:spLocks noGrp="1"/>
          </p:cNvSpPr>
          <p:nvPr>
            <p:ph idx="1"/>
          </p:nvPr>
        </p:nvSpPr>
        <p:spPr/>
        <p:txBody>
          <a:bodyPr>
            <a:normAutofit/>
          </a:bodyPr>
          <a:p>
            <a:pPr algn="just">
              <a:buFont typeface="Wingdings" panose="05000000000000000000" charset="0"/>
              <a:buChar char=""/>
            </a:pPr>
            <a:r>
              <a:rPr lang="en-US" altLang="en-US" sz="1800"/>
              <a:t>Current GEC systems rarely integrate error detection and correction into a unified, efficient pipeline suitable for real-time use.</a:t>
            </a:r>
            <a:endParaRPr lang="en-US" altLang="en-US" sz="1800"/>
          </a:p>
          <a:p>
            <a:pPr algn="just">
              <a:buFont typeface="Wingdings" panose="05000000000000000000" charset="0"/>
              <a:buChar char=""/>
            </a:pPr>
            <a:endParaRPr lang="en-US" altLang="en-US" sz="1800"/>
          </a:p>
          <a:p>
            <a:pPr algn="just">
              <a:buFont typeface="Wingdings" panose="05000000000000000000" charset="0"/>
              <a:buChar char=""/>
            </a:pPr>
            <a:r>
              <a:rPr lang="en-US" altLang="en-US" sz="1800"/>
              <a:t>Most transformer-based correctors modify the entire sentence instead of focusing only on erroneous parts, causing loss of fluency.</a:t>
            </a:r>
            <a:endParaRPr lang="en-US" altLang="en-US" sz="1800"/>
          </a:p>
          <a:p>
            <a:pPr algn="just">
              <a:buFont typeface="Wingdings" panose="05000000000000000000" charset="0"/>
              <a:buChar char=""/>
            </a:pPr>
            <a:endParaRPr lang="en-US" altLang="en-US" sz="1800"/>
          </a:p>
          <a:p>
            <a:pPr algn="just">
              <a:buFont typeface="Wingdings" panose="05000000000000000000" charset="0"/>
              <a:buChar char=""/>
            </a:pPr>
            <a:r>
              <a:rPr lang="en-US" altLang="en-US" sz="1800"/>
              <a:t>Many existing models do not perform well across multiple evaluation metrics such as BLEU, F1, and MCC, limiting their reliability.</a:t>
            </a:r>
            <a:endParaRPr lang="en-US" altLang="en-US" sz="1800"/>
          </a:p>
          <a:p>
            <a:pPr algn="just">
              <a:buFont typeface="Wingdings" panose="05000000000000000000" charset="0"/>
              <a:buChar char=""/>
            </a:pPr>
            <a:endParaRPr lang="en-US" altLang="en-US" sz="1800"/>
          </a:p>
          <a:p>
            <a:pPr algn="just">
              <a:buFont typeface="Wingdings" panose="05000000000000000000" charset="0"/>
              <a:buChar char=""/>
            </a:pPr>
            <a:r>
              <a:rPr lang="en-US" altLang="en-US" sz="1800"/>
              <a:t>There is a need for a scalable and computationally efficient grammar correction architecture that can be deployed in real-world writing tools.</a:t>
            </a:r>
            <a:endParaRPr lang="en-US" altLang="en-US" sz="1800"/>
          </a:p>
        </p:txBody>
      </p:sp>
      <p:sp>
        <p:nvSpPr>
          <p:cNvPr id="6" name="Slide Number Placeholder 5"/>
          <p:cNvSpPr>
            <a:spLocks noGrp="1"/>
          </p:cNvSpPr>
          <p:nvPr>
            <p:ph type="sldNum" sz="quarter" idx="12"/>
          </p:nvPr>
        </p:nvSpPr>
        <p:spPr/>
        <p:txBody>
          <a:bodyPr/>
          <a:p>
            <a:fld id="{65DCBD69-296B-4D7C-AF62-9B588FC78772}" type="slidenum">
              <a:rPr lang="en-IN" smtClean="0"/>
            </a:fld>
            <a:endParaRPr lang="en-IN"/>
          </a:p>
        </p:txBody>
      </p:sp>
      <p:sp>
        <p:nvSpPr>
          <p:cNvPr id="7" name="Footer Placeholder 6"/>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8" name="Date Placeholder 7"/>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503050405090304" pitchFamily="18" charset="0"/>
                <a:cs typeface="Times New Roman" panose="02020503050405090304" pitchFamily="18" charset="0"/>
              </a:rPr>
              <a:t>OBJECTIVES</a:t>
            </a:r>
            <a:endParaRPr lang="en-US" b="1" dirty="0">
              <a:latin typeface="Times New Roman" panose="02020503050405090304" pitchFamily="18" charset="0"/>
              <a:cs typeface="Times New Roman" panose="02020503050405090304" pitchFamily="18" charset="0"/>
            </a:endParaRPr>
          </a:p>
        </p:txBody>
      </p:sp>
      <p:sp>
        <p:nvSpPr>
          <p:cNvPr id="9" name="Content Placeholder 8"/>
          <p:cNvSpPr>
            <a:spLocks noGrp="1"/>
          </p:cNvSpPr>
          <p:nvPr>
            <p:ph idx="1"/>
          </p:nvPr>
        </p:nvSpPr>
        <p:spPr/>
        <p:txBody>
          <a:bodyPr>
            <a:noAutofit/>
          </a:bodyPr>
          <a:lstStyle/>
          <a:p>
            <a:pPr>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To develop an accurate and efficient system for detecting and correcting grammatical errors in English sentences.</a:t>
            </a: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charset="0"/>
              <a:buChar char=""/>
            </a:pP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To integrate lightweight transformer models for fast and reliable error detection.</a:t>
            </a: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charset="0"/>
              <a:buChar char=""/>
            </a:pP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To use a BART-based correction model that produces fluent and natural sentence outputs.</a:t>
            </a: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charset="0"/>
              <a:buChar char=""/>
            </a:pP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To implement a supervised copy mechanism that edits only incorrect tokens and avoids overcorrection.</a:t>
            </a: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charset="0"/>
              <a:buChar char=""/>
            </a:pPr>
            <a:endParaRPr lang="en-US" altLang="en-US" sz="1800" dirty="0">
              <a:latin typeface="Times New Roman" panose="02020503050405090304" pitchFamily="18" charset="0"/>
              <a:cs typeface="Times New Roman" panose="02020503050405090304" pitchFamily="18" charset="0"/>
            </a:endParaRPr>
          </a:p>
          <a:p>
            <a:pPr>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To create a unified two-stage pipeline that combines both detection and correction for real-time usability.</a:t>
            </a:r>
            <a:endParaRPr lang="en-US" altLang="en-US" sz="1800" dirty="0">
              <a:latin typeface="Times New Roman" panose="02020503050405090304" pitchFamily="18" charset="0"/>
              <a:cs typeface="Times New Roman" panose="0202050305040509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503050405090304" pitchFamily="18" charset="0"/>
                <a:cs typeface="Times New Roman" panose="02020503050405090304" pitchFamily="18" charset="0"/>
              </a:rPr>
            </a:fld>
            <a:endParaRPr lang="en-US">
              <a:latin typeface="Times New Roman" panose="02020503050405090304" pitchFamily="18" charset="0"/>
              <a:cs typeface="Times New Roman" panose="02020503050405090304" pitchFamily="18" charset="0"/>
            </a:endParaRPr>
          </a:p>
        </p:txBody>
      </p:sp>
      <p:sp>
        <p:nvSpPr>
          <p:cNvPr id="2" name="Footer Placeholder 1"/>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3" name="Date Placeholder 2"/>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a:latin typeface="Times New Roman" panose="02020503050405090304" pitchFamily="18" charset="0"/>
                <a:cs typeface="Times New Roman" panose="02020503050405090304" pitchFamily="18" charset="0"/>
                <a:sym typeface="+mn-ea"/>
              </a:rPr>
              <a:t>OBJECTIVES</a:t>
            </a:r>
            <a:endParaRPr lang="en-US"/>
          </a:p>
        </p:txBody>
      </p:sp>
      <p:sp>
        <p:nvSpPr>
          <p:cNvPr id="3" name="Content Placeholder 2"/>
          <p:cNvSpPr>
            <a:spLocks noGrp="1"/>
          </p:cNvSpPr>
          <p:nvPr>
            <p:ph idx="1"/>
          </p:nvPr>
        </p:nvSpPr>
        <p:spPr/>
        <p:txBody>
          <a:bodyPr/>
          <a:p>
            <a:pPr>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To train and evaluate the system on benchmark datasets such as Lang-8 and JFLEG to ensure high performance.</a:t>
            </a:r>
            <a:endParaRPr lang="en-US" altLang="en-US" sz="1800">
              <a:latin typeface="Times New Roman" panose="02020503050405090304" pitchFamily="18" charset="0"/>
              <a:cs typeface="Times New Roman" panose="02020503050405090304" pitchFamily="18" charset="0"/>
            </a:endParaRPr>
          </a:p>
          <a:p>
            <a:pPr>
              <a:buFont typeface="Wingdings" panose="05000000000000000000" charset="0"/>
              <a:buChar char=""/>
            </a:pPr>
            <a:endParaRPr lang="en-US" altLang="en-US" sz="1800">
              <a:latin typeface="Times New Roman" panose="02020503050405090304" pitchFamily="18" charset="0"/>
              <a:cs typeface="Times New Roman" panose="02020503050405090304" pitchFamily="18" charset="0"/>
            </a:endParaRPr>
          </a:p>
          <a:p>
            <a:pPr>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To improve fluency and accuracy scores across key evaluation metrics like BLEU, F1, and MCC.</a:t>
            </a:r>
            <a:endParaRPr lang="en-US" altLang="en-US" sz="1800">
              <a:latin typeface="Times New Roman" panose="02020503050405090304" pitchFamily="18" charset="0"/>
              <a:cs typeface="Times New Roman" panose="02020503050405090304" pitchFamily="18" charset="0"/>
            </a:endParaRPr>
          </a:p>
          <a:p>
            <a:pPr>
              <a:buFont typeface="Wingdings" panose="05000000000000000000" charset="0"/>
              <a:buChar char=""/>
            </a:pPr>
            <a:endParaRPr lang="en-US" altLang="en-US" sz="1800">
              <a:latin typeface="Times New Roman" panose="02020503050405090304" pitchFamily="18" charset="0"/>
              <a:cs typeface="Times New Roman" panose="02020503050405090304" pitchFamily="18" charset="0"/>
            </a:endParaRPr>
          </a:p>
          <a:p>
            <a:pPr>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To build a scalable grammar correction framework suitable for educational and practical writing applications.</a:t>
            </a:r>
            <a:endParaRPr lang="en-US" altLang="en-US" sz="1800">
              <a:latin typeface="Times New Roman" panose="02020503050405090304" pitchFamily="18" charset="0"/>
              <a:cs typeface="Times New Roman" panose="02020503050405090304" pitchFamily="18" charset="0"/>
            </a:endParaRPr>
          </a:p>
        </p:txBody>
      </p:sp>
      <p:sp>
        <p:nvSpPr>
          <p:cNvPr id="6" name="Slide Number Placeholder 5"/>
          <p:cNvSpPr>
            <a:spLocks noGrp="1"/>
          </p:cNvSpPr>
          <p:nvPr>
            <p:ph type="sldNum" sz="quarter" idx="12"/>
          </p:nvPr>
        </p:nvSpPr>
        <p:spPr/>
        <p:txBody>
          <a:bodyPr/>
          <a:p>
            <a:fld id="{65DCBD69-296B-4D7C-AF62-9B588FC78772}" type="slidenum">
              <a:rPr lang="en-IN" smtClean="0"/>
            </a:fld>
            <a:endParaRPr lang="en-IN"/>
          </a:p>
        </p:txBody>
      </p:sp>
      <p:sp>
        <p:nvSpPr>
          <p:cNvPr id="7" name="Footer Placeholder 6"/>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8" name="Date Placeholder 7"/>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normAutofit/>
          </a:bodyPr>
          <a:lstStyle/>
          <a:p>
            <a:pPr algn="ctr"/>
            <a:r>
              <a:rPr lang="en-US" b="1" dirty="0">
                <a:latin typeface="Times New Roman" panose="02020503050405090304" pitchFamily="18" charset="0"/>
                <a:cs typeface="Times New Roman" panose="02020503050405090304" pitchFamily="18" charset="0"/>
              </a:rPr>
              <a:t> FLOW DIAGRAM</a:t>
            </a:r>
            <a:endParaRPr lang="en-US" b="1" dirty="0">
              <a:latin typeface="Times New Roman" panose="02020503050405090304" pitchFamily="18" charset="0"/>
              <a:cs typeface="Times New Roman" panose="0202050305040509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503050405090304" pitchFamily="18" charset="0"/>
                <a:cs typeface="Times New Roman" panose="02020503050405090304" pitchFamily="18" charset="0"/>
              </a:rPr>
            </a:fld>
            <a:endParaRPr lang="en-US">
              <a:latin typeface="Times New Roman" panose="02020503050405090304" pitchFamily="18" charset="0"/>
              <a:cs typeface="Times New Roman" panose="02020503050405090304" pitchFamily="18" charset="0"/>
            </a:endParaRPr>
          </a:p>
        </p:txBody>
      </p:sp>
      <p:pic>
        <p:nvPicPr>
          <p:cNvPr id="3" name="Content Placeholder 2" descr="ChatGPT Image Nov 11, 2025, 11_59_33 AM"/>
          <p:cNvPicPr>
            <a:picLocks noChangeAspect="1"/>
          </p:cNvPicPr>
          <p:nvPr>
            <p:ph idx="1"/>
          </p:nvPr>
        </p:nvPicPr>
        <p:blipFill>
          <a:blip r:embed="rId1"/>
          <a:stretch>
            <a:fillRect/>
          </a:stretch>
        </p:blipFill>
        <p:spPr>
          <a:xfrm>
            <a:off x="4645025" y="1825625"/>
            <a:ext cx="2900680" cy="4351655"/>
          </a:xfrm>
          <a:prstGeom prst="rect">
            <a:avLst/>
          </a:prstGeom>
        </p:spPr>
      </p:pic>
      <p:sp>
        <p:nvSpPr>
          <p:cNvPr id="2" name="Footer Placeholder 1"/>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4" name="Date Placeholder 3"/>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503050405090304" pitchFamily="18" charset="0"/>
                <a:cs typeface="Times New Roman" panose="02020503050405090304" pitchFamily="18" charset="0"/>
              </a:rPr>
              <a:t>METHODOLOGY</a:t>
            </a:r>
            <a:endParaRPr lang="en-US" b="1" dirty="0">
              <a:latin typeface="Times New Roman" panose="02020503050405090304" pitchFamily="18" charset="0"/>
              <a:cs typeface="Times New Roman" panose="02020503050405090304" pitchFamily="18" charset="0"/>
            </a:endParaRPr>
          </a:p>
        </p:txBody>
      </p:sp>
      <p:sp>
        <p:nvSpPr>
          <p:cNvPr id="9" name="Content Placeholder 8"/>
          <p:cNvSpPr>
            <a:spLocks noGrp="1"/>
          </p:cNvSpPr>
          <p:nvPr>
            <p:ph idx="1"/>
          </p:nvPr>
        </p:nvSpPr>
        <p:spPr>
          <a:xfrm>
            <a:off x="838200" y="1310640"/>
            <a:ext cx="10515600" cy="4866323"/>
          </a:xfrm>
        </p:spPr>
        <p:txBody>
          <a:bodyPr>
            <a:noAutofit/>
          </a:bodyPr>
          <a:lstStyle/>
          <a:p>
            <a:pPr marL="0" indent="0" algn="just">
              <a:lnSpc>
                <a:spcPct val="100000"/>
              </a:lnSpc>
              <a:buNone/>
            </a:pPr>
            <a:endParaRPr lang="en-US" altLang="en-US" sz="1700" b="1" dirty="0">
              <a:latin typeface="Times New Roman" panose="02020503050405090304" pitchFamily="18" charset="0"/>
              <a:cs typeface="Times New Roman" panose="02020503050405090304" pitchFamily="18" charset="0"/>
            </a:endParaRPr>
          </a:p>
          <a:p>
            <a:pPr marL="0" indent="0" algn="just">
              <a:lnSpc>
                <a:spcPct val="100000"/>
              </a:lnSpc>
              <a:buNone/>
            </a:pPr>
            <a:endParaRPr lang="en-US" altLang="en-US" sz="1700" b="1" dirty="0">
              <a:latin typeface="Times New Roman" panose="02020503050405090304" pitchFamily="18" charset="0"/>
              <a:cs typeface="Times New Roman" panose="02020503050405090304" pitchFamily="18" charset="0"/>
            </a:endParaRPr>
          </a:p>
          <a:p>
            <a:pPr marL="0" indent="0" algn="just">
              <a:lnSpc>
                <a:spcPct val="100000"/>
              </a:lnSpc>
              <a:buNone/>
            </a:pPr>
            <a:r>
              <a:rPr lang="en-US" altLang="en-US" sz="1700" b="1" dirty="0">
                <a:latin typeface="Times New Roman" panose="02020503050405090304" pitchFamily="18" charset="0"/>
                <a:cs typeface="Times New Roman" panose="02020503050405090304" pitchFamily="18" charset="0"/>
              </a:rPr>
              <a:t>Phase 1: Data Preprocessing</a:t>
            </a:r>
            <a:endParaRPr lang="en-US" altLang="en-US" sz="1700" dirty="0">
              <a:latin typeface="Times New Roman" panose="02020503050405090304" pitchFamily="18" charset="0"/>
              <a:cs typeface="Times New Roman" panose="02020503050405090304" pitchFamily="18" charset="0"/>
            </a:endParaRPr>
          </a:p>
          <a:p>
            <a:pPr lvl="1" algn="just">
              <a:lnSpc>
                <a:spcPct val="100000"/>
              </a:lnSpc>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Use Lang-8 and JFLEG learner corpora as the primary datasets.</a:t>
            </a:r>
            <a:endParaRPr lang="en-US" altLang="en-US" sz="1800" dirty="0">
              <a:latin typeface="Times New Roman" panose="02020503050405090304" pitchFamily="18" charset="0"/>
              <a:cs typeface="Times New Roman" panose="02020503050405090304" pitchFamily="18" charset="0"/>
            </a:endParaRPr>
          </a:p>
          <a:p>
            <a:pPr lvl="1" algn="just">
              <a:lnSpc>
                <a:spcPct val="100000"/>
              </a:lnSpc>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Perform cleaning to remove noisy, empty, or misaligned sentence pairs.</a:t>
            </a:r>
            <a:endParaRPr lang="en-US" altLang="en-US" sz="1800" dirty="0">
              <a:latin typeface="Times New Roman" panose="02020503050405090304" pitchFamily="18" charset="0"/>
              <a:cs typeface="Times New Roman" panose="02020503050405090304" pitchFamily="18" charset="0"/>
            </a:endParaRPr>
          </a:p>
          <a:p>
            <a:pPr lvl="1" algn="just">
              <a:lnSpc>
                <a:spcPct val="100000"/>
              </a:lnSpc>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\Apply tokenization and prepare input–output aligned pairs for training.</a:t>
            </a:r>
            <a:endParaRPr lang="en-US" altLang="en-US" sz="1800" dirty="0">
              <a:latin typeface="Times New Roman" panose="02020503050405090304" pitchFamily="18" charset="0"/>
              <a:cs typeface="Times New Roman" panose="02020503050405090304" pitchFamily="18" charset="0"/>
            </a:endParaRPr>
          </a:p>
          <a:p>
            <a:pPr marL="0" indent="0" algn="just">
              <a:lnSpc>
                <a:spcPct val="100000"/>
              </a:lnSpc>
              <a:buNone/>
            </a:pPr>
            <a:endParaRPr lang="en-US" altLang="en-US" sz="1700" dirty="0">
              <a:latin typeface="Times New Roman" panose="02020503050405090304" pitchFamily="18" charset="0"/>
              <a:cs typeface="Times New Roman" panose="02020503050405090304" pitchFamily="18" charset="0"/>
            </a:endParaRPr>
          </a:p>
          <a:p>
            <a:pPr marL="0" indent="0" algn="just">
              <a:lnSpc>
                <a:spcPct val="100000"/>
              </a:lnSpc>
              <a:buNone/>
            </a:pPr>
            <a:r>
              <a:rPr lang="en-US" altLang="en-US" sz="1700" b="1" dirty="0">
                <a:latin typeface="Times New Roman" panose="02020503050405090304" pitchFamily="18" charset="0"/>
                <a:cs typeface="Times New Roman" panose="02020503050405090304" pitchFamily="18" charset="0"/>
              </a:rPr>
              <a:t>Phase 2: Error Detection</a:t>
            </a:r>
            <a:endParaRPr lang="en-US" altLang="en-US" sz="1700" b="1" dirty="0">
              <a:latin typeface="Times New Roman" panose="02020503050405090304" pitchFamily="18" charset="0"/>
              <a:cs typeface="Times New Roman" panose="02020503050405090304" pitchFamily="18" charset="0"/>
            </a:endParaRPr>
          </a:p>
          <a:p>
            <a:pPr lvl="1" algn="just">
              <a:lnSpc>
                <a:spcPct val="100000"/>
              </a:lnSpc>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Utilize lightweight transformer models: DistilBERT, RoBERTa, and DeBERTa.</a:t>
            </a:r>
            <a:endParaRPr lang="en-US" altLang="en-US" sz="1800" dirty="0">
              <a:latin typeface="Times New Roman" panose="02020503050405090304" pitchFamily="18" charset="0"/>
              <a:cs typeface="Times New Roman" panose="02020503050405090304" pitchFamily="18" charset="0"/>
            </a:endParaRPr>
          </a:p>
          <a:p>
            <a:pPr lvl="1" algn="just">
              <a:lnSpc>
                <a:spcPct val="100000"/>
              </a:lnSpc>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Perform token-level classification to identify and mark potential grammatical errors.</a:t>
            </a:r>
            <a:endParaRPr lang="en-US" altLang="en-US" sz="1800" dirty="0">
              <a:latin typeface="Times New Roman" panose="02020503050405090304" pitchFamily="18" charset="0"/>
              <a:cs typeface="Times New Roman" panose="02020503050405090304" pitchFamily="18" charset="0"/>
            </a:endParaRPr>
          </a:p>
          <a:p>
            <a:pPr lvl="1" algn="just">
              <a:lnSpc>
                <a:spcPct val="100000"/>
              </a:lnSpc>
              <a:buFont typeface="Wingdings" panose="05000000000000000000" charset="0"/>
              <a:buChar char=""/>
            </a:pPr>
            <a:r>
              <a:rPr lang="en-US" altLang="en-US" sz="1800" dirty="0">
                <a:latin typeface="Times New Roman" panose="02020503050405090304" pitchFamily="18" charset="0"/>
                <a:cs typeface="Times New Roman" panose="02020503050405090304" pitchFamily="18" charset="0"/>
              </a:rPr>
              <a:t>Pass only the error-prone tokens forward to minimize unnecessary corrections.</a:t>
            </a:r>
            <a:endParaRPr lang="en-US" altLang="en-US" sz="1800" dirty="0">
              <a:latin typeface="Times New Roman" panose="02020503050405090304" pitchFamily="18" charset="0"/>
              <a:cs typeface="Times New Roman" panose="0202050305040509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503050405090304" pitchFamily="18" charset="0"/>
                <a:cs typeface="Times New Roman" panose="02020503050405090304" pitchFamily="18" charset="0"/>
              </a:rPr>
            </a:fld>
            <a:endParaRPr lang="en-US">
              <a:latin typeface="Times New Roman" panose="02020503050405090304" pitchFamily="18" charset="0"/>
              <a:cs typeface="Times New Roman" panose="02020503050405090304" pitchFamily="18" charset="0"/>
            </a:endParaRPr>
          </a:p>
        </p:txBody>
      </p:sp>
      <p:sp>
        <p:nvSpPr>
          <p:cNvPr id="2" name="Footer Placeholder 1"/>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3" name="Date Placeholder 2"/>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dirty="0">
                <a:latin typeface="Times New Roman" panose="02020503050405090304" pitchFamily="18" charset="0"/>
                <a:cs typeface="Times New Roman" panose="02020503050405090304" pitchFamily="18" charset="0"/>
                <a:sym typeface="+mn-ea"/>
              </a:rPr>
              <a:t>METHODOLOGY</a:t>
            </a:r>
            <a:endParaRPr lang="en-US"/>
          </a:p>
        </p:txBody>
      </p:sp>
      <p:sp>
        <p:nvSpPr>
          <p:cNvPr id="3" name="Content Placeholder 2"/>
          <p:cNvSpPr>
            <a:spLocks noGrp="1"/>
          </p:cNvSpPr>
          <p:nvPr>
            <p:ph idx="1"/>
          </p:nvPr>
        </p:nvSpPr>
        <p:spPr/>
        <p:txBody>
          <a:bodyPr>
            <a:noAutofit/>
          </a:bodyPr>
          <a:p>
            <a:pPr marL="0" indent="0">
              <a:buNone/>
            </a:pPr>
            <a:endParaRPr lang="en-US" altLang="en-US" sz="1700" b="1">
              <a:latin typeface="Times New Roman" panose="02020503050405090304" pitchFamily="18" charset="0"/>
              <a:cs typeface="Times New Roman" panose="02020503050405090304" pitchFamily="18" charset="0"/>
            </a:endParaRPr>
          </a:p>
          <a:p>
            <a:pPr marL="0" indent="0">
              <a:buNone/>
            </a:pPr>
            <a:r>
              <a:rPr lang="en-US" altLang="en-US" sz="1700" b="1">
                <a:latin typeface="Times New Roman" panose="02020503050405090304" pitchFamily="18" charset="0"/>
                <a:cs typeface="Times New Roman" panose="02020503050405090304" pitchFamily="18" charset="0"/>
              </a:rPr>
              <a:t>Phase 3: Error Correction</a:t>
            </a:r>
            <a:endParaRPr lang="en-US" altLang="en-US" sz="1700" b="1">
              <a:latin typeface="Times New Roman" panose="02020503050405090304" pitchFamily="18" charset="0"/>
              <a:cs typeface="Times New Roman" panose="02020503050405090304" pitchFamily="18" charset="0"/>
            </a:endParaRPr>
          </a:p>
          <a:p>
            <a:pPr lvl="1">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Apply a BART-based sequence-to-sequence model for sentence rewriting.</a:t>
            </a:r>
            <a:endParaRPr lang="en-US" altLang="en-US" sz="1800">
              <a:latin typeface="Times New Roman" panose="02020503050405090304" pitchFamily="18" charset="0"/>
              <a:cs typeface="Times New Roman" panose="02020503050405090304" pitchFamily="18" charset="0"/>
            </a:endParaRPr>
          </a:p>
          <a:p>
            <a:pPr lvl="1">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Integrate a Supervised Copy Mechanism to preserve correct tokens.</a:t>
            </a:r>
            <a:endParaRPr lang="en-US" altLang="en-US" sz="1800">
              <a:latin typeface="Times New Roman" panose="02020503050405090304" pitchFamily="18" charset="0"/>
              <a:cs typeface="Times New Roman" panose="02020503050405090304" pitchFamily="18" charset="0"/>
            </a:endParaRPr>
          </a:p>
          <a:p>
            <a:pPr lvl="1">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Modify only the erroneous segments to ensure fluent and natural corrections.</a:t>
            </a:r>
            <a:endParaRPr lang="en-US" altLang="en-US" sz="1800">
              <a:latin typeface="Times New Roman" panose="02020503050405090304" pitchFamily="18" charset="0"/>
              <a:cs typeface="Times New Roman" panose="02020503050405090304" pitchFamily="18" charset="0"/>
            </a:endParaRPr>
          </a:p>
          <a:p>
            <a:pPr marL="0" indent="0">
              <a:buNone/>
            </a:pPr>
            <a:endParaRPr lang="en-US" altLang="en-US" sz="1700">
              <a:latin typeface="Times New Roman" panose="02020503050405090304" pitchFamily="18" charset="0"/>
              <a:cs typeface="Times New Roman" panose="02020503050405090304" pitchFamily="18" charset="0"/>
            </a:endParaRPr>
          </a:p>
          <a:p>
            <a:pPr marL="0" indent="0">
              <a:buNone/>
            </a:pPr>
            <a:r>
              <a:rPr lang="en-US" altLang="en-US" sz="1700" b="1">
                <a:latin typeface="Times New Roman" panose="02020503050405090304" pitchFamily="18" charset="0"/>
                <a:cs typeface="Times New Roman" panose="02020503050405090304" pitchFamily="18" charset="0"/>
              </a:rPr>
              <a:t>Phase 4: Evaluation</a:t>
            </a:r>
            <a:endParaRPr lang="en-US" altLang="en-US" sz="1700" b="1">
              <a:latin typeface="Times New Roman" panose="02020503050405090304" pitchFamily="18" charset="0"/>
              <a:cs typeface="Times New Roman" panose="02020503050405090304" pitchFamily="18" charset="0"/>
            </a:endParaRPr>
          </a:p>
          <a:p>
            <a:pPr lvl="1">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Evaluate the system using standard GEC metrics:</a:t>
            </a:r>
            <a:endParaRPr lang="en-US" altLang="en-US" sz="1800">
              <a:latin typeface="Times New Roman" panose="02020503050405090304" pitchFamily="18" charset="0"/>
              <a:cs typeface="Times New Roman" panose="02020503050405090304" pitchFamily="18" charset="0"/>
            </a:endParaRPr>
          </a:p>
          <a:p>
            <a:pPr lvl="1">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BLEU for sentence fluency.</a:t>
            </a:r>
            <a:endParaRPr lang="en-US" altLang="en-US" sz="1800">
              <a:latin typeface="Times New Roman" panose="02020503050405090304" pitchFamily="18" charset="0"/>
              <a:cs typeface="Times New Roman" panose="02020503050405090304" pitchFamily="18" charset="0"/>
            </a:endParaRPr>
          </a:p>
          <a:p>
            <a:pPr lvl="1">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F1-score for correction accuracy.</a:t>
            </a:r>
            <a:endParaRPr lang="en-US" altLang="en-US" sz="1800">
              <a:latin typeface="Times New Roman" panose="02020503050405090304" pitchFamily="18" charset="0"/>
              <a:cs typeface="Times New Roman" panose="02020503050405090304" pitchFamily="18" charset="0"/>
            </a:endParaRPr>
          </a:p>
          <a:p>
            <a:pPr lvl="1">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MCC for reliable token-level error detection.</a:t>
            </a:r>
            <a:endParaRPr lang="en-US" altLang="en-US" sz="1800">
              <a:latin typeface="Times New Roman" panose="02020503050405090304" pitchFamily="18" charset="0"/>
              <a:cs typeface="Times New Roman" panose="02020503050405090304" pitchFamily="18" charset="0"/>
            </a:endParaRPr>
          </a:p>
          <a:p>
            <a:pPr lvl="1">
              <a:buFont typeface="Wingdings" panose="05000000000000000000" charset="0"/>
              <a:buChar char=""/>
            </a:pPr>
            <a:r>
              <a:rPr lang="en-US" altLang="en-US" sz="1800">
                <a:latin typeface="Times New Roman" panose="02020503050405090304" pitchFamily="18" charset="0"/>
                <a:cs typeface="Times New Roman" panose="02020503050405090304" pitchFamily="18" charset="0"/>
              </a:rPr>
              <a:t>Compare performance with existing baseline models to validate improvements.</a:t>
            </a:r>
            <a:endParaRPr lang="en-US" altLang="en-US" sz="1800">
              <a:latin typeface="Times New Roman" panose="02020503050405090304" pitchFamily="18" charset="0"/>
              <a:cs typeface="Times New Roman" panose="02020503050405090304" pitchFamily="18" charset="0"/>
            </a:endParaRPr>
          </a:p>
        </p:txBody>
      </p:sp>
      <p:sp>
        <p:nvSpPr>
          <p:cNvPr id="6" name="Slide Number Placeholder 5"/>
          <p:cNvSpPr>
            <a:spLocks noGrp="1"/>
          </p:cNvSpPr>
          <p:nvPr>
            <p:ph type="sldNum" sz="quarter" idx="12"/>
          </p:nvPr>
        </p:nvSpPr>
        <p:spPr/>
        <p:txBody>
          <a:bodyPr/>
          <a:p>
            <a:fld id="{65DCBD69-296B-4D7C-AF62-9B588FC78772}" type="slidenum">
              <a:rPr lang="en-IN" smtClean="0"/>
            </a:fld>
            <a:endParaRPr lang="en-IN"/>
          </a:p>
        </p:txBody>
      </p:sp>
      <p:sp>
        <p:nvSpPr>
          <p:cNvPr id="7" name="Footer Placeholder 6"/>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8" name="Date Placeholder 7"/>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5DCBD69-296B-4D7C-AF62-9B588FC78772}" type="slidenum">
              <a:rPr lang="en-IN" smtClean="0"/>
            </a:fld>
            <a:endParaRPr lang="en-IN"/>
          </a:p>
        </p:txBody>
      </p:sp>
      <p:pic>
        <p:nvPicPr>
          <p:cNvPr id="5" name="Picture 4"/>
          <p:cNvPicPr>
            <a:picLocks noChangeAspect="1"/>
          </p:cNvPicPr>
          <p:nvPr/>
        </p:nvPicPr>
        <p:blipFill>
          <a:blip r:embed="rId1"/>
          <a:stretch>
            <a:fillRect/>
          </a:stretch>
        </p:blipFill>
        <p:spPr>
          <a:xfrm>
            <a:off x="0" y="0"/>
            <a:ext cx="3762900" cy="579027"/>
          </a:xfrm>
          <a:prstGeom prst="rect">
            <a:avLst/>
          </a:prstGeom>
        </p:spPr>
      </p:pic>
      <p:sp>
        <p:nvSpPr>
          <p:cNvPr id="7" name="TextBox 6"/>
          <p:cNvSpPr txBox="1"/>
          <p:nvPr/>
        </p:nvSpPr>
        <p:spPr>
          <a:xfrm>
            <a:off x="3047223" y="579027"/>
            <a:ext cx="6097554" cy="706755"/>
          </a:xfrm>
          <a:prstGeom prst="rect">
            <a:avLst/>
          </a:prstGeom>
          <a:noFill/>
        </p:spPr>
        <p:txBody>
          <a:bodyPr wrap="square">
            <a:spAutoFit/>
          </a:bodyPr>
          <a:lstStyle/>
          <a:p>
            <a:pPr algn="ctr"/>
            <a:r>
              <a:rPr lang="en-US" sz="4000" b="1" dirty="0">
                <a:latin typeface="Times New Roman" panose="02020503050405090304" pitchFamily="18" charset="0"/>
                <a:cs typeface="Times New Roman" panose="02020503050405090304" pitchFamily="18" charset="0"/>
              </a:rPr>
              <a:t>System Requirements</a:t>
            </a:r>
            <a:endParaRPr lang="en-IN" sz="4000" dirty="0">
              <a:latin typeface="Times New Roman" panose="02020503050405090304" pitchFamily="18" charset="0"/>
              <a:cs typeface="Times New Roman" panose="02020503050405090304" pitchFamily="18" charset="0"/>
            </a:endParaRPr>
          </a:p>
        </p:txBody>
      </p:sp>
      <p:sp>
        <p:nvSpPr>
          <p:cNvPr id="9" name="TextBox 8"/>
          <p:cNvSpPr txBox="1"/>
          <p:nvPr/>
        </p:nvSpPr>
        <p:spPr>
          <a:xfrm>
            <a:off x="1388706" y="1462808"/>
            <a:ext cx="9965094" cy="4523105"/>
          </a:xfrm>
          <a:prstGeom prst="rect">
            <a:avLst/>
          </a:prstGeom>
          <a:noFill/>
        </p:spPr>
        <p:txBody>
          <a:bodyPr wrap="square">
            <a:spAutoFit/>
          </a:bodyPr>
          <a:lstStyle/>
          <a:p>
            <a:pPr>
              <a:lnSpc>
                <a:spcPct val="150000"/>
              </a:lnSpc>
              <a:buNone/>
              <a:tabLst>
                <a:tab pos="3860800" algn="l"/>
                <a:tab pos="5473700" algn="l"/>
              </a:tabLst>
            </a:pPr>
            <a:r>
              <a:rPr lang="en-US" b="1" dirty="0">
                <a:latin typeface="Times New Roman" panose="02020503050405090304" pitchFamily="18" charset="0"/>
                <a:cs typeface="Times New Roman" panose="02020503050405090304" pitchFamily="18" charset="0"/>
              </a:rPr>
              <a:t>Hardware Requirements</a:t>
            </a:r>
            <a:endParaRPr lang="en-US" b="1" dirty="0">
              <a:latin typeface="Times New Roman" panose="02020503050405090304" pitchFamily="18" charset="0"/>
              <a:cs typeface="Times New Roman" panose="02020503050405090304" pitchFamily="18" charset="0"/>
            </a:endParaRPr>
          </a:p>
          <a:p>
            <a:pPr>
              <a:lnSpc>
                <a:spcPct val="150000"/>
              </a:lnSpc>
              <a:buNone/>
              <a:tabLst>
                <a:tab pos="3860800" algn="l"/>
                <a:tab pos="5473700" algn="l"/>
              </a:tabLst>
            </a:pPr>
            <a:endParaRPr lang="en-IN" dirty="0">
              <a:latin typeface="Times New Roman" panose="02020503050405090304" pitchFamily="18" charset="0"/>
              <a:cs typeface="Times New Roman" panose="02020503050405090304" pitchFamily="18" charset="0"/>
            </a:endParaRPr>
          </a:p>
          <a:p>
            <a:pPr lvl="0" defTabSz="1041400">
              <a:tabLst>
                <a:tab pos="3860800" algn="l"/>
                <a:tab pos="5473700" algn="l"/>
              </a:tabLst>
            </a:pPr>
            <a:r>
              <a:rPr lang="en-US" dirty="0">
                <a:latin typeface="Times New Roman" panose="02020503050405090304" pitchFamily="18" charset="0"/>
                <a:cs typeface="Times New Roman" panose="02020503050405090304" pitchFamily="18" charset="0"/>
              </a:rPr>
              <a:t>Processor	:	intel Core i5</a:t>
            </a:r>
            <a:endParaRPr lang="en-IN" dirty="0">
              <a:latin typeface="Times New Roman" panose="02020503050405090304" pitchFamily="18" charset="0"/>
              <a:cs typeface="Times New Roman" panose="02020503050405090304" pitchFamily="18" charset="0"/>
            </a:endParaRPr>
          </a:p>
          <a:p>
            <a:pPr lvl="0" defTabSz="1790700">
              <a:tabLst>
                <a:tab pos="3860800" algn="l"/>
                <a:tab pos="5473700" algn="l"/>
              </a:tabLst>
            </a:pPr>
            <a:r>
              <a:rPr lang="en-US" dirty="0">
                <a:latin typeface="Times New Roman" panose="02020503050405090304" pitchFamily="18" charset="0"/>
                <a:cs typeface="Times New Roman" panose="02020503050405090304" pitchFamily="18" charset="0"/>
              </a:rPr>
              <a:t>Cache memory	:	4MB(Megabyte)</a:t>
            </a:r>
            <a:r>
              <a:rPr lang="en-IN" dirty="0">
                <a:latin typeface="Times New Roman" panose="02020503050405090304" pitchFamily="18" charset="0"/>
                <a:cs typeface="Times New Roman" panose="02020503050405090304" pitchFamily="18" charset="0"/>
              </a:rPr>
              <a:t> </a:t>
            </a:r>
            <a:endParaRPr lang="en-IN" dirty="0">
              <a:latin typeface="Times New Roman" panose="02020503050405090304" pitchFamily="18" charset="0"/>
              <a:cs typeface="Times New Roman" panose="02020503050405090304" pitchFamily="18" charset="0"/>
            </a:endParaRPr>
          </a:p>
          <a:p>
            <a:pPr lvl="0">
              <a:tabLst>
                <a:tab pos="3860800" algn="l"/>
                <a:tab pos="5473700" algn="l"/>
              </a:tabLst>
            </a:pPr>
            <a:r>
              <a:rPr lang="en-US" dirty="0">
                <a:latin typeface="Times New Roman" panose="02020503050405090304" pitchFamily="18" charset="0"/>
                <a:cs typeface="Times New Roman" panose="02020503050405090304" pitchFamily="18" charset="0"/>
              </a:rPr>
              <a:t>RAM	</a:t>
            </a:r>
            <a:r>
              <a:rPr lang="en-IN" dirty="0">
                <a:latin typeface="Times New Roman" panose="02020503050405090304" pitchFamily="18" charset="0"/>
                <a:cs typeface="Times New Roman" panose="02020503050405090304" pitchFamily="18" charset="0"/>
              </a:rPr>
              <a:t>:	</a:t>
            </a:r>
            <a:r>
              <a:rPr lang="en-US" dirty="0">
                <a:latin typeface="Times New Roman" panose="02020503050405090304" pitchFamily="18" charset="0"/>
                <a:cs typeface="Times New Roman" panose="02020503050405090304" pitchFamily="18" charset="0"/>
              </a:rPr>
              <a:t>12.7GB (gigabyte)</a:t>
            </a:r>
            <a:r>
              <a:rPr lang="en-IN" dirty="0">
                <a:latin typeface="Times New Roman" panose="02020503050405090304" pitchFamily="18" charset="0"/>
                <a:cs typeface="Times New Roman" panose="02020503050405090304" pitchFamily="18" charset="0"/>
              </a:rPr>
              <a:t> </a:t>
            </a:r>
            <a:endParaRPr lang="en-IN" dirty="0">
              <a:latin typeface="Times New Roman" panose="02020503050405090304" pitchFamily="18" charset="0"/>
              <a:cs typeface="Times New Roman" panose="02020503050405090304" pitchFamily="18" charset="0"/>
            </a:endParaRPr>
          </a:p>
          <a:p>
            <a:pPr lvl="0">
              <a:tabLst>
                <a:tab pos="3860800" algn="l"/>
                <a:tab pos="5473700" algn="l"/>
              </a:tabLst>
            </a:pPr>
            <a:r>
              <a:rPr lang="en-US" dirty="0">
                <a:latin typeface="Times New Roman" panose="02020503050405090304" pitchFamily="18" charset="0"/>
                <a:cs typeface="Times New Roman" panose="02020503050405090304" pitchFamily="18" charset="0"/>
              </a:rPr>
              <a:t>Hard Disk</a:t>
            </a:r>
            <a:r>
              <a:rPr lang="en-IN" dirty="0">
                <a:latin typeface="Times New Roman" panose="02020503050405090304" pitchFamily="18" charset="0"/>
                <a:cs typeface="Times New Roman" panose="02020503050405090304" pitchFamily="18" charset="0"/>
              </a:rPr>
              <a:t>	</a:t>
            </a:r>
            <a:r>
              <a:rPr lang="en-US" dirty="0">
                <a:latin typeface="Times New Roman" panose="02020503050405090304" pitchFamily="18" charset="0"/>
                <a:cs typeface="Times New Roman" panose="02020503050405090304" pitchFamily="18" charset="0"/>
              </a:rPr>
              <a:t>: 	166.8GB</a:t>
            </a:r>
            <a:r>
              <a:rPr lang="en-IN" dirty="0">
                <a:latin typeface="Times New Roman" panose="02020503050405090304" pitchFamily="18" charset="0"/>
                <a:cs typeface="Times New Roman" panose="02020503050405090304" pitchFamily="18" charset="0"/>
              </a:rPr>
              <a:t> </a:t>
            </a:r>
            <a:endParaRPr lang="en-IN" dirty="0">
              <a:latin typeface="Times New Roman" panose="02020503050405090304" pitchFamily="18" charset="0"/>
              <a:cs typeface="Times New Roman" panose="02020503050405090304" pitchFamily="18" charset="0"/>
            </a:endParaRPr>
          </a:p>
          <a:p>
            <a:pPr lvl="0">
              <a:tabLst>
                <a:tab pos="3860800" algn="l"/>
                <a:tab pos="5473700" algn="l"/>
              </a:tabLst>
            </a:pPr>
            <a:r>
              <a:rPr lang="en-IN" dirty="0">
                <a:latin typeface="Times New Roman" panose="02020503050405090304" pitchFamily="18" charset="0"/>
                <a:cs typeface="Times New Roman" panose="02020503050405090304" pitchFamily="18" charset="0"/>
              </a:rPr>
              <a:t>Compute Engine      	:	T4 GPU</a:t>
            </a:r>
            <a:endParaRPr lang="en-IN" dirty="0">
              <a:latin typeface="Times New Roman" panose="02020503050405090304" pitchFamily="18" charset="0"/>
              <a:cs typeface="Times New Roman" panose="02020503050405090304" pitchFamily="18" charset="0"/>
            </a:endParaRPr>
          </a:p>
          <a:p>
            <a:pPr lvl="0">
              <a:tabLst>
                <a:tab pos="3860800" algn="l"/>
                <a:tab pos="5473700" algn="l"/>
              </a:tabLst>
            </a:pPr>
            <a:endParaRPr lang="en-IN" dirty="0">
              <a:latin typeface="Times New Roman" panose="02020503050405090304" pitchFamily="18" charset="0"/>
              <a:cs typeface="Times New Roman" panose="02020503050405090304" pitchFamily="18" charset="0"/>
            </a:endParaRPr>
          </a:p>
          <a:p>
            <a:pPr lvl="0">
              <a:lnSpc>
                <a:spcPct val="150000"/>
              </a:lnSpc>
              <a:buNone/>
              <a:tabLst>
                <a:tab pos="3860800" algn="l"/>
                <a:tab pos="5473700" algn="l"/>
              </a:tabLst>
            </a:pPr>
            <a:r>
              <a:rPr lang="en-US" b="1" dirty="0">
                <a:latin typeface="Times New Roman" panose="02020503050405090304" pitchFamily="18" charset="0"/>
                <a:cs typeface="Times New Roman" panose="02020503050405090304" pitchFamily="18" charset="0"/>
              </a:rPr>
              <a:t>Software Requirements</a:t>
            </a:r>
            <a:endParaRPr lang="en-US" b="1" dirty="0">
              <a:latin typeface="Times New Roman" panose="02020503050405090304" pitchFamily="18" charset="0"/>
              <a:cs typeface="Times New Roman" panose="02020503050405090304" pitchFamily="18" charset="0"/>
            </a:endParaRPr>
          </a:p>
          <a:p>
            <a:pPr lvl="0">
              <a:lnSpc>
                <a:spcPct val="150000"/>
              </a:lnSpc>
              <a:buNone/>
              <a:tabLst>
                <a:tab pos="3860800" algn="l"/>
                <a:tab pos="5473700" algn="l"/>
              </a:tabLst>
            </a:pPr>
            <a:endParaRPr lang="en-IN" dirty="0">
              <a:latin typeface="Times New Roman" panose="02020503050405090304" pitchFamily="18" charset="0"/>
              <a:cs typeface="Times New Roman" panose="02020503050405090304" pitchFamily="18" charset="0"/>
            </a:endParaRPr>
          </a:p>
          <a:p>
            <a:pPr lvl="0">
              <a:tabLst>
                <a:tab pos="3860800" algn="l"/>
                <a:tab pos="5473700" algn="l"/>
              </a:tabLst>
            </a:pPr>
            <a:r>
              <a:rPr lang="en-US" dirty="0">
                <a:latin typeface="Times New Roman" panose="02020503050405090304" pitchFamily="18" charset="0"/>
                <a:cs typeface="Times New Roman" panose="02020503050405090304" pitchFamily="18" charset="0"/>
              </a:rPr>
              <a:t>Operating System</a:t>
            </a:r>
            <a:r>
              <a:rPr lang="en-IN" dirty="0">
                <a:latin typeface="Times New Roman" panose="02020503050405090304" pitchFamily="18" charset="0"/>
                <a:cs typeface="Times New Roman" panose="02020503050405090304" pitchFamily="18" charset="0"/>
              </a:rPr>
              <a:t>	</a:t>
            </a:r>
            <a:r>
              <a:rPr lang="en-US" dirty="0">
                <a:latin typeface="Times New Roman" panose="02020503050405090304" pitchFamily="18" charset="0"/>
                <a:cs typeface="Times New Roman" panose="02020503050405090304" pitchFamily="18" charset="0"/>
              </a:rPr>
              <a:t>: 	Windows 10, 64-bit OS</a:t>
            </a:r>
            <a:endParaRPr lang="en-US" dirty="0">
              <a:latin typeface="Times New Roman" panose="02020503050405090304" pitchFamily="18" charset="0"/>
              <a:cs typeface="Times New Roman" panose="02020503050405090304" pitchFamily="18" charset="0"/>
            </a:endParaRPr>
          </a:p>
          <a:p>
            <a:pPr lvl="0">
              <a:tabLst>
                <a:tab pos="3860800" algn="l"/>
                <a:tab pos="5473700" algn="l"/>
              </a:tabLst>
            </a:pPr>
            <a:r>
              <a:rPr lang="en-US" dirty="0">
                <a:latin typeface="Times New Roman" panose="02020503050405090304" pitchFamily="18" charset="0"/>
                <a:cs typeface="Times New Roman" panose="02020503050405090304" pitchFamily="18" charset="0"/>
              </a:rPr>
              <a:t>Coding Language</a:t>
            </a:r>
            <a:r>
              <a:rPr lang="en-IN" dirty="0">
                <a:latin typeface="Times New Roman" panose="02020503050405090304" pitchFamily="18" charset="0"/>
                <a:cs typeface="Times New Roman" panose="02020503050405090304" pitchFamily="18" charset="0"/>
              </a:rPr>
              <a:t>	</a:t>
            </a:r>
            <a:r>
              <a:rPr lang="en-US" dirty="0">
                <a:latin typeface="Times New Roman" panose="02020503050405090304" pitchFamily="18" charset="0"/>
                <a:cs typeface="Times New Roman" panose="02020503050405090304" pitchFamily="18" charset="0"/>
              </a:rPr>
              <a:t>: 	Python</a:t>
            </a:r>
            <a:r>
              <a:rPr lang="en-IN" dirty="0">
                <a:latin typeface="Times New Roman" panose="02020503050405090304" pitchFamily="18" charset="0"/>
                <a:cs typeface="Times New Roman" panose="02020503050405090304" pitchFamily="18" charset="0"/>
              </a:rPr>
              <a:t> </a:t>
            </a:r>
            <a:endParaRPr lang="en-IN" dirty="0">
              <a:latin typeface="Times New Roman" panose="02020503050405090304" pitchFamily="18" charset="0"/>
              <a:cs typeface="Times New Roman" panose="02020503050405090304" pitchFamily="18" charset="0"/>
            </a:endParaRPr>
          </a:p>
          <a:p>
            <a:pPr lvl="0">
              <a:tabLst>
                <a:tab pos="3860800" algn="l"/>
                <a:tab pos="5473700" algn="l"/>
              </a:tabLst>
            </a:pPr>
            <a:r>
              <a:rPr lang="en-US" dirty="0">
                <a:latin typeface="Times New Roman" panose="02020503050405090304" pitchFamily="18" charset="0"/>
                <a:cs typeface="Times New Roman" panose="02020503050405090304" pitchFamily="18" charset="0"/>
              </a:rPr>
              <a:t>Python distribution</a:t>
            </a:r>
            <a:r>
              <a:rPr lang="en-IN" dirty="0">
                <a:latin typeface="Times New Roman" panose="02020503050405090304" pitchFamily="18" charset="0"/>
                <a:cs typeface="Times New Roman" panose="02020503050405090304" pitchFamily="18" charset="0"/>
              </a:rPr>
              <a:t> 	</a:t>
            </a:r>
            <a:r>
              <a:rPr lang="en-US" dirty="0">
                <a:latin typeface="Times New Roman" panose="02020503050405090304" pitchFamily="18" charset="0"/>
                <a:cs typeface="Times New Roman" panose="02020503050405090304" pitchFamily="18" charset="0"/>
              </a:rPr>
              <a:t>: 		Google </a:t>
            </a:r>
            <a:r>
              <a:rPr lang="en-US" dirty="0" err="1">
                <a:latin typeface="Times New Roman" panose="02020503050405090304" pitchFamily="18" charset="0"/>
                <a:cs typeface="Times New Roman" panose="02020503050405090304" pitchFamily="18" charset="0"/>
              </a:rPr>
              <a:t>Colab</a:t>
            </a:r>
            <a:r>
              <a:rPr lang="en-US" dirty="0">
                <a:latin typeface="Times New Roman" panose="02020503050405090304" pitchFamily="18" charset="0"/>
                <a:cs typeface="Times New Roman" panose="02020503050405090304" pitchFamily="18" charset="0"/>
              </a:rPr>
              <a:t> Pro , Flask</a:t>
            </a:r>
            <a:r>
              <a:rPr lang="en-IN" dirty="0">
                <a:latin typeface="Times New Roman" panose="02020503050405090304" pitchFamily="18" charset="0"/>
                <a:cs typeface="Times New Roman" panose="02020503050405090304" pitchFamily="18" charset="0"/>
              </a:rPr>
              <a:t> </a:t>
            </a:r>
            <a:endParaRPr lang="en-IN" dirty="0">
              <a:latin typeface="Times New Roman" panose="02020503050405090304" pitchFamily="18" charset="0"/>
              <a:cs typeface="Times New Roman" panose="02020503050405090304" pitchFamily="18" charset="0"/>
            </a:endParaRPr>
          </a:p>
          <a:p>
            <a:pPr lvl="0">
              <a:tabLst>
                <a:tab pos="3860800" algn="l"/>
                <a:tab pos="5473700" algn="l"/>
              </a:tabLst>
            </a:pPr>
            <a:r>
              <a:rPr lang="en-US" dirty="0">
                <a:latin typeface="Times New Roman" panose="02020503050405090304" pitchFamily="18" charset="0"/>
                <a:cs typeface="Times New Roman" panose="02020503050405090304" pitchFamily="18" charset="0"/>
              </a:rPr>
              <a:t>Browser	: 	Any Latest Browser like Chrome</a:t>
            </a:r>
            <a:r>
              <a:rPr lang="en-IN" dirty="0">
                <a:latin typeface="Times New Roman" panose="02020503050405090304" pitchFamily="18" charset="0"/>
                <a:cs typeface="Times New Roman" panose="02020503050405090304" pitchFamily="18" charset="0"/>
              </a:rPr>
              <a:t> </a:t>
            </a:r>
            <a:endParaRPr lang="en-IN" dirty="0">
              <a:latin typeface="Times New Roman" panose="02020503050405090304" pitchFamily="18" charset="0"/>
              <a:cs typeface="Times New Roman" panose="02020503050405090304" pitchFamily="18" charset="0"/>
            </a:endParaRPr>
          </a:p>
        </p:txBody>
      </p:sp>
      <p:sp>
        <p:nvSpPr>
          <p:cNvPr id="6" name="Footer Placeholder 5"/>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8" name="Date Placeholder 7"/>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5DCBD69-296B-4D7C-AF62-9B588FC78772}" type="slidenum">
              <a:rPr lang="en-IN" smtClean="0"/>
            </a:fld>
            <a:endParaRPr lang="en-IN"/>
          </a:p>
        </p:txBody>
      </p:sp>
      <p:pic>
        <p:nvPicPr>
          <p:cNvPr id="5" name="Picture 4"/>
          <p:cNvPicPr>
            <a:picLocks noChangeAspect="1"/>
          </p:cNvPicPr>
          <p:nvPr/>
        </p:nvPicPr>
        <p:blipFill>
          <a:blip r:embed="rId1"/>
          <a:stretch>
            <a:fillRect/>
          </a:stretch>
        </p:blipFill>
        <p:spPr>
          <a:xfrm>
            <a:off x="0" y="0"/>
            <a:ext cx="3762900" cy="579027"/>
          </a:xfrm>
          <a:prstGeom prst="rect">
            <a:avLst/>
          </a:prstGeom>
        </p:spPr>
      </p:pic>
      <p:sp>
        <p:nvSpPr>
          <p:cNvPr id="7" name="TextBox 6"/>
          <p:cNvSpPr txBox="1"/>
          <p:nvPr/>
        </p:nvSpPr>
        <p:spPr>
          <a:xfrm>
            <a:off x="2680607" y="579027"/>
            <a:ext cx="6830785" cy="706755"/>
          </a:xfrm>
          <a:prstGeom prst="rect">
            <a:avLst/>
          </a:prstGeom>
          <a:noFill/>
        </p:spPr>
        <p:txBody>
          <a:bodyPr wrap="square">
            <a:spAutoFit/>
          </a:bodyPr>
          <a:lstStyle/>
          <a:p>
            <a:pPr algn="ctr"/>
            <a:r>
              <a:rPr lang="en-US" sz="4000" b="1" dirty="0">
                <a:latin typeface="Times New Roman" panose="02020503050405090304" pitchFamily="18" charset="0"/>
                <a:cs typeface="Times New Roman" panose="02020503050405090304" pitchFamily="18" charset="0"/>
              </a:rPr>
              <a:t>Correction Page</a:t>
            </a:r>
            <a:endParaRPr lang="en-IN" sz="4000" dirty="0"/>
          </a:p>
        </p:txBody>
      </p:sp>
      <p:pic>
        <p:nvPicPr>
          <p:cNvPr id="6" name="Picture 5" descr="WhatsApp Image 2025-11-11 at 11.42.50"/>
          <p:cNvPicPr>
            <a:picLocks noChangeAspect="1"/>
          </p:cNvPicPr>
          <p:nvPr/>
        </p:nvPicPr>
        <p:blipFill>
          <a:blip r:embed="rId2"/>
          <a:stretch>
            <a:fillRect/>
          </a:stretch>
        </p:blipFill>
        <p:spPr>
          <a:xfrm>
            <a:off x="551180" y="1509395"/>
            <a:ext cx="11089640" cy="4389120"/>
          </a:xfrm>
          <a:prstGeom prst="rect">
            <a:avLst/>
          </a:prstGeom>
        </p:spPr>
      </p:pic>
      <p:sp>
        <p:nvSpPr>
          <p:cNvPr id="8" name="Footer Placeholder 7"/>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9" name="Date Placeholder 8"/>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5DCBD69-296B-4D7C-AF62-9B588FC78772}" type="slidenum">
              <a:rPr lang="en-IN" smtClean="0"/>
            </a:fld>
            <a:endParaRPr lang="en-IN"/>
          </a:p>
        </p:txBody>
      </p:sp>
      <p:pic>
        <p:nvPicPr>
          <p:cNvPr id="5" name="Picture 4"/>
          <p:cNvPicPr>
            <a:picLocks noChangeAspect="1"/>
          </p:cNvPicPr>
          <p:nvPr/>
        </p:nvPicPr>
        <p:blipFill>
          <a:blip r:embed="rId1"/>
          <a:stretch>
            <a:fillRect/>
          </a:stretch>
        </p:blipFill>
        <p:spPr>
          <a:xfrm>
            <a:off x="0" y="0"/>
            <a:ext cx="3762900" cy="579027"/>
          </a:xfrm>
          <a:prstGeom prst="rect">
            <a:avLst/>
          </a:prstGeom>
        </p:spPr>
      </p:pic>
      <p:sp>
        <p:nvSpPr>
          <p:cNvPr id="7" name="TextBox 6"/>
          <p:cNvSpPr txBox="1"/>
          <p:nvPr/>
        </p:nvSpPr>
        <p:spPr>
          <a:xfrm>
            <a:off x="2680606" y="168797"/>
            <a:ext cx="6830785" cy="706755"/>
          </a:xfrm>
          <a:prstGeom prst="rect">
            <a:avLst/>
          </a:prstGeom>
          <a:noFill/>
        </p:spPr>
        <p:txBody>
          <a:bodyPr wrap="square">
            <a:spAutoFit/>
          </a:bodyPr>
          <a:lstStyle/>
          <a:p>
            <a:pPr algn="ctr"/>
            <a:r>
              <a:rPr lang="en-US" altLang="en-IN" sz="4000" dirty="0">
                <a:latin typeface="Times New Roman" panose="02020503050405090304" pitchFamily="18" charset="0"/>
                <a:cs typeface="Times New Roman" panose="02020503050405090304" pitchFamily="18" charset="0"/>
              </a:rPr>
              <a:t>Dashboard</a:t>
            </a:r>
            <a:endParaRPr lang="en-US" altLang="en-IN" sz="4000" dirty="0">
              <a:latin typeface="Times New Roman" panose="02020503050405090304" pitchFamily="18" charset="0"/>
              <a:cs typeface="Times New Roman" panose="02020503050405090304" pitchFamily="18" charset="0"/>
            </a:endParaRPr>
          </a:p>
        </p:txBody>
      </p:sp>
      <p:pic>
        <p:nvPicPr>
          <p:cNvPr id="6" name="Picture 5" descr="WhatsApp Image 2025-11-11 at 11.42.51"/>
          <p:cNvPicPr>
            <a:picLocks noChangeAspect="1"/>
          </p:cNvPicPr>
          <p:nvPr/>
        </p:nvPicPr>
        <p:blipFill>
          <a:blip r:embed="rId2"/>
          <a:stretch>
            <a:fillRect/>
          </a:stretch>
        </p:blipFill>
        <p:spPr>
          <a:xfrm>
            <a:off x="377190" y="996950"/>
            <a:ext cx="11438255" cy="4941570"/>
          </a:xfrm>
          <a:prstGeom prst="rect">
            <a:avLst/>
          </a:prstGeom>
        </p:spPr>
      </p:pic>
      <p:sp>
        <p:nvSpPr>
          <p:cNvPr id="8" name="Footer Placeholder 7"/>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9" name="Date Placeholder 8"/>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503050405090304" pitchFamily="18" charset="0"/>
                <a:cs typeface="Times New Roman" panose="02020503050405090304" pitchFamily="18" charset="0"/>
              </a:rPr>
              <a:t>RESULTS &amp; ANALYSIS</a:t>
            </a:r>
            <a:endParaRPr lang="en-US" b="1" dirty="0">
              <a:latin typeface="Times New Roman" panose="02020503050405090304" pitchFamily="18" charset="0"/>
              <a:cs typeface="Times New Roman" panose="02020503050405090304" pitchFamily="18" charset="0"/>
            </a:endParaRPr>
          </a:p>
        </p:txBody>
      </p:sp>
      <p:sp>
        <p:nvSpPr>
          <p:cNvPr id="9" name="Content Placeholder 8"/>
          <p:cNvSpPr>
            <a:spLocks noGrp="1"/>
          </p:cNvSpPr>
          <p:nvPr>
            <p:ph idx="1"/>
          </p:nvPr>
        </p:nvSpPr>
        <p:spPr>
          <a:xfrm>
            <a:off x="502285" y="1209675"/>
            <a:ext cx="10515600" cy="4891405"/>
          </a:xfrm>
        </p:spPr>
        <p:txBody>
          <a:bodyPr>
            <a:normAutofit/>
          </a:bodyPr>
          <a:lstStyle/>
          <a:p>
            <a:pPr algn="just">
              <a:lnSpc>
                <a:spcPct val="12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The error detection stage using DistilBERT, RoBERTa, and DeBERTa achieved consistent accuracy of 0.953, showing reliable token-level classification across models.</a:t>
            </a:r>
            <a:endParaRPr lang="en-US" altLang="en-US" sz="2000" dirty="0">
              <a:latin typeface="Times New Roman" panose="02020503050405090304" pitchFamily="18" charset="0"/>
              <a:cs typeface="Times New Roman" panose="02020503050405090304" pitchFamily="18" charset="0"/>
            </a:endParaRPr>
          </a:p>
          <a:p>
            <a:pPr algn="just">
              <a:lnSpc>
                <a:spcPct val="12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F1-scores for detection ranged between 0.928 and 0.933, indicating strong precision and recall in identifying grammatical errors.</a:t>
            </a:r>
            <a:endParaRPr lang="en-US" altLang="en-US" sz="2000" dirty="0">
              <a:latin typeface="Times New Roman" panose="02020503050405090304" pitchFamily="18" charset="0"/>
              <a:cs typeface="Times New Roman" panose="02020503050405090304" pitchFamily="18" charset="0"/>
            </a:endParaRPr>
          </a:p>
          <a:p>
            <a:pPr algn="just">
              <a:lnSpc>
                <a:spcPct val="12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The BART-based correction model achieved a BLEU score of 95.15, demonstrating highly fluent and human-like sentence generation.</a:t>
            </a:r>
            <a:endParaRPr lang="en-US" altLang="en-US" sz="2000" dirty="0">
              <a:latin typeface="Times New Roman" panose="02020503050405090304" pitchFamily="18" charset="0"/>
              <a:cs typeface="Times New Roman" panose="02020503050405090304" pitchFamily="18" charset="0"/>
            </a:endParaRPr>
          </a:p>
          <a:p>
            <a:pPr algn="just">
              <a:lnSpc>
                <a:spcPct val="12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The overall correction performance reached an F1-score of 0.945, showing accurate modification of erroneous tokens while preserving correct ones.</a:t>
            </a:r>
            <a:endParaRPr lang="en-US" altLang="en-US" sz="2000" dirty="0">
              <a:latin typeface="Times New Roman" panose="02020503050405090304" pitchFamily="18" charset="0"/>
              <a:cs typeface="Times New Roman" panose="02020503050405090304" pitchFamily="18" charset="0"/>
            </a:endParaRPr>
          </a:p>
          <a:p>
            <a:pPr algn="just">
              <a:lnSpc>
                <a:spcPct val="120000"/>
              </a:lnSpc>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Comparative evaluation showed that the proposed hybrid system outperformed existing baseline models across BLEU, F1, and MCC metrics.</a:t>
            </a:r>
            <a:endParaRPr lang="en-US" altLang="en-US" sz="2000" dirty="0">
              <a:latin typeface="Times New Roman" panose="02020503050405090304" pitchFamily="18" charset="0"/>
              <a:cs typeface="Times New Roman" panose="0202050305040509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503050405090304" pitchFamily="18" charset="0"/>
                <a:cs typeface="Times New Roman" panose="02020503050405090304" pitchFamily="18" charset="0"/>
              </a:rPr>
            </a:fld>
            <a:endParaRPr lang="en-US">
              <a:latin typeface="Times New Roman" panose="02020503050405090304" pitchFamily="18" charset="0"/>
              <a:cs typeface="Times New Roman" panose="02020503050405090304" pitchFamily="18" charset="0"/>
            </a:endParaRPr>
          </a:p>
        </p:txBody>
      </p:sp>
      <p:sp>
        <p:nvSpPr>
          <p:cNvPr id="2" name="Footer Placeholder 1"/>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3" name="Date Placeholder 2"/>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503050405090304" pitchFamily="18" charset="0"/>
                <a:cs typeface="Times New Roman" panose="02020503050405090304" pitchFamily="18" charset="0"/>
              </a:rPr>
              <a:t>CONCLUSION and FUTURE SCOPE</a:t>
            </a:r>
            <a:endParaRPr lang="en-US" b="1" dirty="0">
              <a:latin typeface="Times New Roman" panose="02020503050405090304" pitchFamily="18" charset="0"/>
              <a:cs typeface="Times New Roman" panose="02020503050405090304" pitchFamily="18" charset="0"/>
            </a:endParaRPr>
          </a:p>
        </p:txBody>
      </p:sp>
      <p:sp>
        <p:nvSpPr>
          <p:cNvPr id="9" name="Content Placeholder 8"/>
          <p:cNvSpPr>
            <a:spLocks noGrp="1"/>
          </p:cNvSpPr>
          <p:nvPr>
            <p:ph idx="1"/>
          </p:nvPr>
        </p:nvSpPr>
        <p:spPr>
          <a:xfrm>
            <a:off x="838200" y="1554479"/>
            <a:ext cx="10515600" cy="4267201"/>
          </a:xfrm>
        </p:spPr>
        <p:txBody>
          <a:bodyPr>
            <a:normAutofit fontScale="90000"/>
          </a:bodyPr>
          <a:lstStyle/>
          <a:p>
            <a:pPr marL="0" indent="0">
              <a:buNone/>
            </a:pPr>
            <a:r>
              <a:rPr lang="en-US" altLang="en-US" sz="2250" dirty="0">
                <a:latin typeface="Times New Roman" panose="02020503050405090304" pitchFamily="18" charset="0"/>
                <a:cs typeface="Times New Roman" panose="02020503050405090304" pitchFamily="18" charset="0"/>
              </a:rPr>
              <a:t>Conclusion </a:t>
            </a:r>
            <a:endParaRPr lang="en-US" altLang="en-US" sz="2250" dirty="0">
              <a:latin typeface="Times New Roman" panose="02020503050405090304" pitchFamily="18" charset="0"/>
              <a:cs typeface="Times New Roman" panose="02020503050405090304" pitchFamily="18" charset="0"/>
            </a:endParaRPr>
          </a:p>
          <a:p>
            <a:pPr marL="0" indent="0">
              <a:buNone/>
            </a:pPr>
            <a:r>
              <a:rPr lang="en-US" altLang="en-US" sz="2250" dirty="0">
                <a:latin typeface="Times New Roman" panose="02020503050405090304" pitchFamily="18" charset="0"/>
                <a:cs typeface="Times New Roman" panose="02020503050405090304" pitchFamily="18" charset="0"/>
              </a:rPr>
              <a:t>❖ The proposed two-stage transformer-based GEC system effectively detects and corrects</a:t>
            </a:r>
            <a:endParaRPr lang="en-US" altLang="en-US" sz="2250" dirty="0">
              <a:latin typeface="Times New Roman" panose="02020503050405090304" pitchFamily="18" charset="0"/>
              <a:cs typeface="Times New Roman" panose="02020503050405090304" pitchFamily="18" charset="0"/>
            </a:endParaRPr>
          </a:p>
          <a:p>
            <a:pPr marL="0" indent="0">
              <a:buNone/>
            </a:pPr>
            <a:r>
              <a:rPr lang="en-US" altLang="en-US" sz="2250" dirty="0">
                <a:latin typeface="Times New Roman" panose="02020503050405090304" pitchFamily="18" charset="0"/>
                <a:cs typeface="Times New Roman" panose="02020503050405090304" pitchFamily="18" charset="0"/>
              </a:rPr>
              <a:t>grammar errors.</a:t>
            </a:r>
            <a:endParaRPr lang="en-US" altLang="en-US" sz="2250" dirty="0">
              <a:latin typeface="Times New Roman" panose="02020503050405090304" pitchFamily="18" charset="0"/>
              <a:cs typeface="Times New Roman" panose="02020503050405090304" pitchFamily="18" charset="0"/>
            </a:endParaRPr>
          </a:p>
          <a:p>
            <a:pPr marL="0" indent="0">
              <a:buNone/>
            </a:pPr>
            <a:r>
              <a:rPr lang="en-US" altLang="en-US" sz="2250" dirty="0">
                <a:latin typeface="Times New Roman" panose="02020503050405090304" pitchFamily="18" charset="0"/>
                <a:cs typeface="Times New Roman" panose="02020503050405090304" pitchFamily="18" charset="0"/>
              </a:rPr>
              <a:t>❖ The Supervised Copy Mechanism prevents unnecessary edits, ensuring fluent and natural</a:t>
            </a:r>
            <a:endParaRPr lang="en-US" altLang="en-US" sz="2250" dirty="0">
              <a:latin typeface="Times New Roman" panose="02020503050405090304" pitchFamily="18" charset="0"/>
              <a:cs typeface="Times New Roman" panose="02020503050405090304" pitchFamily="18" charset="0"/>
            </a:endParaRPr>
          </a:p>
          <a:p>
            <a:pPr marL="0" indent="0">
              <a:buNone/>
            </a:pPr>
            <a:r>
              <a:rPr lang="en-US" altLang="en-US" sz="2250" dirty="0">
                <a:latin typeface="Times New Roman" panose="02020503050405090304" pitchFamily="18" charset="0"/>
                <a:cs typeface="Times New Roman" panose="02020503050405090304" pitchFamily="18" charset="0"/>
              </a:rPr>
              <a:t>text.</a:t>
            </a:r>
            <a:endParaRPr lang="en-US" altLang="en-US" sz="2250" dirty="0">
              <a:latin typeface="Times New Roman" panose="02020503050405090304" pitchFamily="18" charset="0"/>
              <a:cs typeface="Times New Roman" panose="02020503050405090304" pitchFamily="18" charset="0"/>
            </a:endParaRPr>
          </a:p>
          <a:p>
            <a:pPr marL="0" indent="0">
              <a:buNone/>
            </a:pPr>
            <a:r>
              <a:rPr lang="en-US" altLang="en-US" sz="2250" dirty="0">
                <a:latin typeface="Times New Roman" panose="02020503050405090304" pitchFamily="18" charset="0"/>
                <a:cs typeface="Times New Roman" panose="02020503050405090304" pitchFamily="18" charset="0"/>
              </a:rPr>
              <a:t>❖ Future Scope:</a:t>
            </a:r>
            <a:endParaRPr lang="en-US" altLang="en-US" sz="2250" dirty="0">
              <a:latin typeface="Times New Roman" panose="02020503050405090304" pitchFamily="18" charset="0"/>
              <a:cs typeface="Times New Roman" panose="02020503050405090304" pitchFamily="18" charset="0"/>
            </a:endParaRPr>
          </a:p>
          <a:p>
            <a:pPr lvl="1">
              <a:buFont typeface="Wingdings" panose="05000000000000000000" charset="0"/>
              <a:buChar char=""/>
            </a:pPr>
            <a:r>
              <a:rPr lang="en-US" altLang="en-US" dirty="0">
                <a:latin typeface="Times New Roman" panose="02020503050405090304" pitchFamily="18" charset="0"/>
                <a:cs typeface="Times New Roman" panose="02020503050405090304" pitchFamily="18" charset="0"/>
              </a:rPr>
              <a:t> </a:t>
            </a:r>
            <a:r>
              <a:rPr lang="en-US" altLang="en-US" sz="2000" dirty="0">
                <a:latin typeface="Times New Roman" panose="02020503050405090304" pitchFamily="18" charset="0"/>
                <a:cs typeface="Times New Roman" panose="02020503050405090304" pitchFamily="18" charset="0"/>
              </a:rPr>
              <a:t>Extend to multilingual grammar correction.</a:t>
            </a:r>
            <a:endParaRPr lang="en-US" altLang="en-US" sz="2000" dirty="0">
              <a:latin typeface="Times New Roman" panose="02020503050405090304" pitchFamily="18" charset="0"/>
              <a:cs typeface="Times New Roman" panose="02020503050405090304" pitchFamily="18" charset="0"/>
            </a:endParaRPr>
          </a:p>
          <a:p>
            <a:pPr lvl="1">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 Integrate into educational tools or chatbots.</a:t>
            </a:r>
            <a:endParaRPr lang="en-US" altLang="en-US" sz="2000" dirty="0">
              <a:latin typeface="Times New Roman" panose="02020503050405090304" pitchFamily="18" charset="0"/>
              <a:cs typeface="Times New Roman" panose="02020503050405090304" pitchFamily="18" charset="0"/>
            </a:endParaRPr>
          </a:p>
          <a:p>
            <a:pPr lvl="1">
              <a:buFont typeface="Wingdings" panose="05000000000000000000" charset="0"/>
              <a:buChar char=""/>
            </a:pPr>
            <a:r>
              <a:rPr lang="en-US" altLang="en-US" sz="2000" dirty="0">
                <a:latin typeface="Times New Roman" panose="02020503050405090304" pitchFamily="18" charset="0"/>
                <a:cs typeface="Times New Roman" panose="02020503050405090304" pitchFamily="18" charset="0"/>
              </a:rPr>
              <a:t>Explore large language models (LLMs) like GPT or T5 for enhanced performance.</a:t>
            </a:r>
            <a:endParaRPr lang="en-US" altLang="en-US" sz="2000" dirty="0">
              <a:latin typeface="Times New Roman" panose="02020503050405090304" pitchFamily="18" charset="0"/>
              <a:cs typeface="Times New Roman" panose="02020503050405090304" pitchFamily="18" charset="0"/>
            </a:endParaRPr>
          </a:p>
          <a:p>
            <a:pPr marL="0" indent="0" algn="just">
              <a:buNone/>
            </a:pPr>
            <a:endParaRPr lang="en-US" sz="2000" dirty="0">
              <a:latin typeface="Times New Roman" panose="02020503050405090304" pitchFamily="18" charset="0"/>
              <a:cs typeface="Times New Roman" panose="0202050305040509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503050405090304" pitchFamily="18" charset="0"/>
                <a:cs typeface="Times New Roman" panose="02020503050405090304" pitchFamily="18" charset="0"/>
              </a:rPr>
            </a:fld>
            <a:endParaRPr lang="en-US">
              <a:latin typeface="Times New Roman" panose="02020503050405090304" pitchFamily="18" charset="0"/>
              <a:cs typeface="Times New Roman" panose="02020503050405090304" pitchFamily="18" charset="0"/>
            </a:endParaRPr>
          </a:p>
        </p:txBody>
      </p:sp>
      <p:sp>
        <p:nvSpPr>
          <p:cNvPr id="2" name="Footer Placeholder 1"/>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3" name="Date Placeholder 2"/>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503050405090304" pitchFamily="18" charset="0"/>
                <a:cs typeface="Times New Roman" panose="02020503050405090304" pitchFamily="18" charset="0"/>
              </a:rPr>
              <a:t>REFERENCES</a:t>
            </a:r>
            <a:endParaRPr lang="en-US" b="1" dirty="0">
              <a:latin typeface="Times New Roman" panose="02020503050405090304" pitchFamily="18" charset="0"/>
              <a:cs typeface="Times New Roman" panose="02020503050405090304" pitchFamily="18" charset="0"/>
            </a:endParaRPr>
          </a:p>
        </p:txBody>
      </p:sp>
      <p:sp>
        <p:nvSpPr>
          <p:cNvPr id="9" name="Content Placeholder 8"/>
          <p:cNvSpPr>
            <a:spLocks noGrp="1"/>
          </p:cNvSpPr>
          <p:nvPr>
            <p:ph idx="1"/>
          </p:nvPr>
        </p:nvSpPr>
        <p:spPr>
          <a:xfrm>
            <a:off x="838200" y="1266890"/>
            <a:ext cx="10615367" cy="4683829"/>
          </a:xfrm>
        </p:spPr>
        <p:txBody>
          <a:bodyPr>
            <a:noAutofit/>
          </a:bodyPr>
          <a:lstStyle/>
          <a:p>
            <a:pPr marL="457200" indent="-457200">
              <a:buFont typeface="+mj-lt"/>
              <a:buAutoNum type="arabicPeriod"/>
            </a:pPr>
            <a:r>
              <a:rPr lang="en-US" altLang="en-US" sz="2000" dirty="0">
                <a:latin typeface="Times New Roman" panose="02020503050405090304" pitchFamily="18" charset="0"/>
                <a:cs typeface="Times New Roman" panose="02020503050405090304" pitchFamily="18" charset="0"/>
              </a:rPr>
              <a:t>Lichtarge et al., 2019 – Data-driven GEC</a:t>
            </a:r>
            <a:endParaRPr lang="en-US" altLang="en-US" sz="2000" dirty="0">
              <a:latin typeface="Times New Roman" panose="02020503050405090304" pitchFamily="18" charset="0"/>
              <a:cs typeface="Times New Roman" panose="02020503050405090304" pitchFamily="18" charset="0"/>
            </a:endParaRPr>
          </a:p>
          <a:p>
            <a:pPr marL="457200" indent="-457200">
              <a:buFont typeface="+mj-lt"/>
              <a:buAutoNum type="arabicPeriod"/>
            </a:pPr>
            <a:endParaRPr lang="en-US" altLang="en-US" sz="2000" dirty="0">
              <a:latin typeface="Times New Roman" panose="02020503050405090304" pitchFamily="18" charset="0"/>
              <a:cs typeface="Times New Roman" panose="02020503050405090304" pitchFamily="18" charset="0"/>
            </a:endParaRPr>
          </a:p>
          <a:p>
            <a:pPr marL="457200" indent="-457200">
              <a:buFont typeface="+mj-lt"/>
              <a:buAutoNum type="arabicPeriod"/>
            </a:pPr>
            <a:r>
              <a:rPr lang="en-US" altLang="en-US" sz="2000" dirty="0">
                <a:latin typeface="Times New Roman" panose="02020503050405090304" pitchFamily="18" charset="0"/>
                <a:cs typeface="Times New Roman" panose="02020503050405090304" pitchFamily="18" charset="0"/>
              </a:rPr>
              <a:t> Neupane, 2023 – Error analysis in student writing </a:t>
            </a:r>
            <a:endParaRPr lang="en-US" altLang="en-US" sz="2000" dirty="0">
              <a:latin typeface="Times New Roman" panose="02020503050405090304" pitchFamily="18" charset="0"/>
              <a:cs typeface="Times New Roman" panose="02020503050405090304" pitchFamily="18" charset="0"/>
            </a:endParaRPr>
          </a:p>
          <a:p>
            <a:pPr marL="457200" indent="-457200">
              <a:buFont typeface="+mj-lt"/>
              <a:buAutoNum type="arabicPeriod"/>
            </a:pPr>
            <a:endParaRPr lang="en-US" altLang="en-US" sz="2000" dirty="0">
              <a:latin typeface="Times New Roman" panose="02020503050405090304" pitchFamily="18" charset="0"/>
              <a:cs typeface="Times New Roman" panose="02020503050405090304" pitchFamily="18" charset="0"/>
            </a:endParaRPr>
          </a:p>
          <a:p>
            <a:pPr marL="457200" indent="-457200">
              <a:buFont typeface="+mj-lt"/>
              <a:buAutoNum type="arabicPeriod"/>
            </a:pPr>
            <a:r>
              <a:rPr lang="en-US" altLang="en-US" sz="2000" dirty="0">
                <a:latin typeface="Times New Roman" panose="02020503050405090304" pitchFamily="18" charset="0"/>
                <a:cs typeface="Times New Roman" panose="02020503050405090304" pitchFamily="18" charset="0"/>
              </a:rPr>
              <a:t>Zhao et al., 2019 – Copy-based correction </a:t>
            </a:r>
            <a:endParaRPr lang="en-US" altLang="en-US" sz="2000" dirty="0">
              <a:latin typeface="Times New Roman" panose="02020503050405090304" pitchFamily="18" charset="0"/>
              <a:cs typeface="Times New Roman" panose="02020503050405090304" pitchFamily="18" charset="0"/>
            </a:endParaRPr>
          </a:p>
          <a:p>
            <a:pPr marL="457200" indent="-457200">
              <a:buFont typeface="+mj-lt"/>
              <a:buAutoNum type="arabicPeriod"/>
            </a:pPr>
            <a:endParaRPr lang="en-US" altLang="en-US" sz="2000" dirty="0">
              <a:latin typeface="Times New Roman" panose="02020503050405090304" pitchFamily="18" charset="0"/>
              <a:cs typeface="Times New Roman" panose="02020503050405090304" pitchFamily="18" charset="0"/>
            </a:endParaRPr>
          </a:p>
          <a:p>
            <a:pPr marL="457200" indent="-457200">
              <a:buFont typeface="+mj-lt"/>
              <a:buAutoNum type="arabicPeriod"/>
            </a:pPr>
            <a:r>
              <a:rPr lang="en-US" altLang="en-US" sz="2000" dirty="0">
                <a:latin typeface="Times New Roman" panose="02020503050405090304" pitchFamily="18" charset="0"/>
                <a:cs typeface="Times New Roman" panose="02020503050405090304" pitchFamily="18" charset="0"/>
              </a:rPr>
              <a:t>Al-Sabahi &amp; Yang, 2023 – Supervised copy mechanism </a:t>
            </a:r>
            <a:endParaRPr lang="en-US" altLang="en-US" sz="2000" dirty="0">
              <a:latin typeface="Times New Roman" panose="02020503050405090304" pitchFamily="18" charset="0"/>
              <a:cs typeface="Times New Roman" panose="02020503050405090304" pitchFamily="18" charset="0"/>
            </a:endParaRPr>
          </a:p>
          <a:p>
            <a:pPr marL="457200" indent="-457200">
              <a:buFont typeface="+mj-lt"/>
              <a:buAutoNum type="arabicPeriod"/>
            </a:pPr>
            <a:endParaRPr lang="en-US" altLang="en-US" sz="2000" dirty="0">
              <a:latin typeface="Times New Roman" panose="02020503050405090304" pitchFamily="18" charset="0"/>
              <a:cs typeface="Times New Roman" panose="02020503050405090304" pitchFamily="18" charset="0"/>
            </a:endParaRPr>
          </a:p>
          <a:p>
            <a:pPr marL="457200" indent="-457200">
              <a:buFont typeface="+mj-lt"/>
              <a:buAutoNum type="arabicPeriod"/>
            </a:pPr>
            <a:r>
              <a:rPr lang="en-US" altLang="en-US" sz="2000" dirty="0">
                <a:latin typeface="Times New Roman" panose="02020503050405090304" pitchFamily="18" charset="0"/>
                <a:cs typeface="Times New Roman" panose="02020503050405090304" pitchFamily="18" charset="0"/>
              </a:rPr>
              <a:t>Lewis et al., 2020 – BART model</a:t>
            </a:r>
            <a:endParaRPr lang="en-US" altLang="en-US" sz="2000" dirty="0">
              <a:latin typeface="Times New Roman" panose="02020503050405090304" pitchFamily="18" charset="0"/>
              <a:cs typeface="Times New Roman" panose="02020503050405090304" pitchFamily="18" charset="0"/>
            </a:endParaRPr>
          </a:p>
          <a:p>
            <a:pPr marL="457200" indent="-457200">
              <a:buFont typeface="+mj-lt"/>
              <a:buAutoNum type="arabicPeriod"/>
            </a:pPr>
            <a:endParaRPr lang="en-US" altLang="en-US" sz="2000" dirty="0">
              <a:latin typeface="Times New Roman" panose="02020503050405090304" pitchFamily="18" charset="0"/>
              <a:cs typeface="Times New Roman" panose="02020503050405090304" pitchFamily="18" charset="0"/>
            </a:endParaRPr>
          </a:p>
          <a:p>
            <a:pPr marL="457200" indent="-457200">
              <a:buFont typeface="+mj-lt"/>
              <a:buAutoNum type="arabicPeriod"/>
            </a:pPr>
            <a:r>
              <a:rPr lang="en-US" altLang="en-US" sz="2000" dirty="0">
                <a:latin typeface="Times New Roman" panose="02020503050405090304" pitchFamily="18" charset="0"/>
                <a:cs typeface="Times New Roman" panose="02020503050405090304" pitchFamily="18" charset="0"/>
              </a:rPr>
              <a:t>Sanh et al., 2019 – DistilBERTERT</a:t>
            </a:r>
            <a:endParaRPr lang="en-US" altLang="en-US" sz="2000" dirty="0">
              <a:latin typeface="Times New Roman" panose="02020503050405090304" pitchFamily="18" charset="0"/>
              <a:cs typeface="Times New Roman" panose="02020503050405090304" pitchFamily="18" charset="0"/>
            </a:endParaRPr>
          </a:p>
        </p:txBody>
      </p:sp>
      <p:sp>
        <p:nvSpPr>
          <p:cNvPr id="6" name="Footer Placeholder 5"/>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CB1           Department of CSE</a:t>
            </a:r>
            <a:endParaRPr lang="en-US" dirty="0">
              <a:latin typeface="Times New Roman" panose="02020503050405090304" pitchFamily="18" charset="0"/>
              <a:cs typeface="Times New Roman" panose="0202050305040509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503050405090304" pitchFamily="18" charset="0"/>
                <a:cs typeface="Times New Roman" panose="02020503050405090304" pitchFamily="18" charset="0"/>
              </a:rPr>
            </a:fld>
            <a:endParaRPr lang="en-US">
              <a:latin typeface="Times New Roman" panose="02020503050405090304" pitchFamily="18" charset="0"/>
              <a:cs typeface="Times New Roman" panose="02020503050405090304" pitchFamily="18" charset="0"/>
            </a:endParaRPr>
          </a:p>
        </p:txBody>
      </p:sp>
      <p:sp>
        <p:nvSpPr>
          <p:cNvPr id="2" name="Date Placeholder 1"/>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p>
            <a:pPr algn="ctr"/>
            <a:r>
              <a:rPr lang="en-US" b="1" dirty="0">
                <a:latin typeface="Times New Roman" panose="02020503050405090304" pitchFamily="18" charset="0"/>
                <a:cs typeface="Times New Roman" panose="02020503050405090304" pitchFamily="18" charset="0"/>
                <a:sym typeface="+mn-ea"/>
              </a:rPr>
              <a:t>REFERENCES</a:t>
            </a:r>
            <a:endParaRPr lang="en-US"/>
          </a:p>
        </p:txBody>
      </p:sp>
      <p:sp>
        <p:nvSpPr>
          <p:cNvPr id="3" name="Content Placeholder 2"/>
          <p:cNvSpPr>
            <a:spLocks noGrp="1"/>
          </p:cNvSpPr>
          <p:nvPr>
            <p:ph idx="1"/>
          </p:nvPr>
        </p:nvSpPr>
        <p:spPr/>
        <p:txBody>
          <a:bodyPr>
            <a:noAutofit/>
          </a:bodyPr>
          <a:lstStyle/>
          <a:p>
            <a:pPr marL="0" indent="0">
              <a:buFont typeface="+mj-lt"/>
              <a:buNone/>
            </a:pPr>
            <a:r>
              <a:rPr lang="en-US" altLang="en-US" sz="2000" dirty="0">
                <a:latin typeface="Times New Roman" panose="02020503050405090304" pitchFamily="18" charset="0"/>
                <a:cs typeface="Times New Roman" panose="02020503050405090304" pitchFamily="18" charset="0"/>
              </a:rPr>
              <a:t>7.    Liu et al., 2019 – RoBERTa</a:t>
            </a:r>
            <a:endParaRPr lang="en-US" altLang="en-US" sz="2000" dirty="0">
              <a:latin typeface="Times New Roman" panose="02020503050405090304" pitchFamily="18" charset="0"/>
              <a:cs typeface="Times New Roman" panose="02020503050405090304" pitchFamily="18" charset="0"/>
            </a:endParaRPr>
          </a:p>
          <a:p>
            <a:pPr marL="0" indent="0">
              <a:buFont typeface="+mj-lt"/>
              <a:buNone/>
            </a:pPr>
            <a:r>
              <a:rPr lang="en-US" altLang="en-US" sz="2000" dirty="0">
                <a:latin typeface="Times New Roman" panose="02020503050405090304" pitchFamily="18" charset="0"/>
                <a:cs typeface="Times New Roman" panose="02020503050405090304" pitchFamily="18" charset="0"/>
              </a:rPr>
              <a:t>8.    He et al., 2021 – DeBERTa</a:t>
            </a:r>
            <a:endParaRPr lang="en-US" altLang="en-US" sz="2000" dirty="0">
              <a:latin typeface="Times New Roman" panose="02020503050405090304" pitchFamily="18" charset="0"/>
              <a:cs typeface="Times New Roman" panose="02020503050405090304" pitchFamily="18" charset="0"/>
            </a:endParaRPr>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
        <p:nvSpPr>
          <p:cNvPr id="11" name="Footer Placeholder 10"/>
          <p:cNvSpPr>
            <a:spLocks noGrp="1"/>
          </p:cNvSpPr>
          <p:nvPr>
            <p:ph type="ftr" sz="quarter" idx="11"/>
          </p:nvPr>
        </p:nvSpPr>
        <p:spPr/>
        <p:txBody>
          <a:bodyPr/>
          <a:lstStyle/>
          <a:p>
            <a:r>
              <a:rPr lang="en-US">
                <a:latin typeface="Times New Roman" panose="02020503050405090304" pitchFamily="18" charset="0"/>
                <a:cs typeface="Times New Roman" panose="02020503050405090304" pitchFamily="18" charset="0"/>
              </a:rPr>
              <a:t>Review No. 02        Batch No. DB9         Department of CSE</a:t>
            </a:r>
            <a:endParaRPr lang="en-US" dirty="0">
              <a:latin typeface="Times New Roman" panose="02020503050405090304" pitchFamily="18" charset="0"/>
              <a:cs typeface="Times New Roman" panose="02020503050405090304" pitchFamily="18" charset="0"/>
            </a:endParaRPr>
          </a:p>
        </p:txBody>
      </p:sp>
      <p:sp>
        <p:nvSpPr>
          <p:cNvPr id="12" name="Date Placeholder 11"/>
          <p:cNvSpPr>
            <a:spLocks noGrp="1"/>
          </p:cNvSpPr>
          <p:nvPr>
            <p:ph type="dt" sz="half" idx="10"/>
          </p:nvPr>
        </p:nvSpPr>
        <p:spPr/>
        <p:txBody>
          <a:bodyPr/>
          <a:lstStyle/>
          <a:p>
            <a:r>
              <a:rPr lang="en-US" dirty="0">
                <a:latin typeface="Times New Roman" panose="02020503050405090304" pitchFamily="18" charset="0"/>
                <a:cs typeface="Times New Roman" panose="02020503050405090304" pitchFamily="18" charset="0"/>
              </a:rPr>
              <a:t>05/12/2025</a:t>
            </a:r>
            <a:endParaRPr lang="en-US" dirty="0">
              <a:latin typeface="Times New Roman" panose="02020503050405090304" pitchFamily="18" charset="0"/>
              <a:cs typeface="Times New Roman" panose="0202050305040509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12333</Words>
  <Application>WPS Presentation</Application>
  <PresentationFormat>Widescreen</PresentationFormat>
  <Paragraphs>453</Paragraphs>
  <Slides>23</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23</vt:i4>
      </vt:variant>
    </vt:vector>
  </HeadingPairs>
  <TitlesOfParts>
    <vt:vector size="36" baseType="lpstr">
      <vt:lpstr>Arial</vt:lpstr>
      <vt:lpstr>SimSun</vt:lpstr>
      <vt:lpstr>Wingdings</vt:lpstr>
      <vt:lpstr>Times New Roman</vt:lpstr>
      <vt:lpstr>Microsoft YaHei</vt:lpstr>
      <vt:lpstr>汉仪旗黑</vt:lpstr>
      <vt:lpstr>Arial Unicode MS</vt:lpstr>
      <vt:lpstr>Calibri Light</vt:lpstr>
      <vt:lpstr>Helvetica Neue</vt:lpstr>
      <vt:lpstr>Calibri</vt:lpstr>
      <vt:lpstr>宋体-简</vt:lpstr>
      <vt:lpstr>Wingdings</vt:lpstr>
      <vt:lpstr>Office Theme</vt:lpstr>
      <vt:lpstr>PowerPoint 演示文稿</vt:lpstr>
      <vt:lpstr>OUTLINE</vt:lpstr>
      <vt:lpstr>ABSTRACT</vt:lpstr>
      <vt:lpstr>PowerPoint 演示文稿</vt:lpstr>
      <vt:lpstr>PowerPoint 演示文稿</vt:lpstr>
      <vt:lpstr>PowerPoint 演示文稿</vt:lpstr>
      <vt:lpstr>PowerPoint 演示文稿</vt:lpstr>
      <vt:lpstr>RESEARCH GAPS</vt:lpstr>
      <vt:lpstr>PowerPoint 演示文稿</vt:lpstr>
      <vt:lpstr>PROBLEM STATEMENT</vt:lpstr>
      <vt:lpstr>PowerPoint 演示文稿</vt:lpstr>
      <vt:lpstr>OBJECTIVES</vt:lpstr>
      <vt:lpstr>PowerPoint 演示文稿</vt:lpstr>
      <vt:lpstr> FLOW DIAGRAM</vt:lpstr>
      <vt:lpstr>METHODOLOGY</vt:lpstr>
      <vt:lpstr>PowerPoint 演示文稿</vt:lpstr>
      <vt:lpstr>PowerPoint 演示文稿</vt:lpstr>
      <vt:lpstr>PowerPoint 演示文稿</vt:lpstr>
      <vt:lpstr>PowerPoint 演示文稿</vt:lpstr>
      <vt:lpstr>RESULTS &amp; ANALYSIS</vt:lpstr>
      <vt:lpstr>CONCLUSION and FUTURE SCOPE</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admin</dc:creator>
  <cp:lastModifiedBy>vinay</cp:lastModifiedBy>
  <cp:revision>115</cp:revision>
  <dcterms:created xsi:type="dcterms:W3CDTF">2025-12-05T05:40:35Z</dcterms:created>
  <dcterms:modified xsi:type="dcterms:W3CDTF">2025-12-05T05:40:35Z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5C5C709F1E48ACCB53703269A4E7407D_43</vt:lpwstr>
  </property>
  <property fmtid="{D5CDD505-2E9C-101B-9397-08002B2CF9AE}" pid="3" name="KSOProductBuildVer">
    <vt:lpwstr>1033-12.1.23152.23152</vt:lpwstr>
  </property>
</Properties>
</file>